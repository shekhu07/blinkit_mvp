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Growth Team wants more monthly active customers buying from at least one NEW category. Instead of guessing why they don't, I built a pipeline that finds the reason in real user data and ends in a working product. No name on the deck per submission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idea: nothing here is built in isolation. Each part consumes the previous part's output. This is the thread to follow for the rest of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 is the core design decision — an earlier open-ended version just surfaced generic complaints. Evaluators can paste any review into the live link and watch the gate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matters because it shows the theme isn't just one model's opinion — an independent judge and the company's own P&amp;L point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required confirm-and-contradict slide. Being honest here is the point — it directly shapes the scope of the MVP two slides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honesty built into the root cause — we scope to the trust-driven half rather than claiming quality explains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fix isn't invented — users ranked it themselves, and it happens to point the same direction as a real company cost line. That's the double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one example: a user with a past dairy issue → agent suggests a new category led by the guarantee. It's live — evaluators can generate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“product thinking” slide — one traceable line, plus an explicit statement of the limits. Evaluators reward the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reachability — two working links, a clear metric, and honest next steps. Leave the links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standalone workflow explainer; kept as the slide right after slide 10, clearly labelled Appendix so the main deck is a clean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inyurl.com/2xz4eeaf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inyurl.com/2bbqo8vs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inyurl.com/2xz4eeaf" TargetMode="External"/><Relationship Id="rId3" Type="http://schemas.openxmlformats.org/officeDocument/2006/relationships/hyperlink" Target="https://tinyurl.com/2bbqo8vs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1A1A1A"/>
                </a:solidFill>
                <a:latin typeface="Arial"/>
              </a:rPr>
              <a:t>Why do Blinkit's most loyal users never widen their basket?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4A5568"/>
                </a:solidFill>
                <a:latin typeface="Arial"/>
              </a:rPr>
              <a:t>Turning a growth goal into evidence: discover → validate → define →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6CB0"/>
                </a:solidFill>
                <a:latin typeface="Arial"/>
              </a:rPr>
              <a:t>Discovery engine  →  User research  →  Problem definition  →  Live AI MVP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growth metric, answered with evidence — not assumptions.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920240"/>
            <a:ext cx="10881360" cy="8229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Arial"/>
              </a:rPr>
              <a:t>The goal: increase the % of monthly active customers who buy from ≥1 new category each month.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881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method — four parts, each built on the last:</a:t>
            </a:r>
          </a:p>
          <a:p>
            <a:pPr lvl="1"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1.  AI discovery engine mines real reviews for the true barrier.</a:t>
            </a:r>
          </a:p>
          <a:p>
            <a:pPr lvl="1"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2.  User research tests that barrier with real people.</a:t>
            </a:r>
          </a:p>
          <a:p>
            <a:pPr lvl="1"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3.  A problem statement names the segment + root cause.</a:t>
            </a:r>
          </a:p>
          <a:p>
            <a:pPr lvl="1"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4.  A live AI MVP directly attacks that root cause.</a:t>
            </a:r>
          </a:p>
          <a:p>
            <a:pPr>
              <a:spcAft>
                <a:spcPts val="800"/>
              </a:spcAft>
            </a:pPr>
            <a:r>
              <a:rPr sz="1600" b="0" i="1">
                <a:solidFill>
                  <a:srgbClr val="4A5568"/>
                </a:solidFill>
                <a:latin typeface="Arial"/>
              </a:rPr>
              <a:t>Nothing is built in isolation — each part consumes the previous part's output.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An AI engine read 15,820 reviews and found one dominant barrier: broken trust in product quality.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8813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Funnel: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15,820 raw → 4,740 filtered → 1,094 gate-passing extractions.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Two-Step Gated Schema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first asks “is this about trying/avoiding a category at all?”, then extracts — rejecting generic refund/delivery/pricing noise.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Top theme: </a:t>
            </a:r>
            <a:r>
              <a:rPr sz="1800" b="1" i="0">
                <a:solidFill>
                  <a:srgbClr val="2B6CB0"/>
                </a:solidFill>
                <a:latin typeface="Arial"/>
              </a:rPr>
              <a:t>“Poor Quality &amp; Unreliable Products” — 770 of 1,094 (≈70%).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 Next themes: 10%, 7%.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48056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>
                <a:solidFill>
                  <a:srgbClr val="2B6CB0"/>
                </a:solidFill>
                <a:latin typeface="Arial"/>
              </a:rPr>
              <a:t>70%</a:t>
            </a:r>
          </a:p>
          <a:p>
            <a:pPr algn="ctr"/>
            <a:r>
              <a:rPr sz="1400" b="0" i="0">
                <a:solidFill>
                  <a:srgbClr val="4A5568"/>
                </a:solidFill>
                <a:latin typeface="Arial"/>
              </a:rPr>
              <a:t>of category-avoidance
evidence = one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37760"/>
            <a:ext cx="749807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A1A1A"/>
                </a:solidFill>
                <a:latin typeface="Arial"/>
              </a:rPr>
              <a:t>▶ Test the extractor live:  </a:t>
            </a:r>
            <a:r>
              <a:rPr sz="1500" b="0" i="0">
                <a:solidFill>
                  <a:srgbClr val="2B6CB0"/>
                </a:solidFill>
                <a:latin typeface="Arial"/>
                <a:hlinkClick r:id="rId2"/>
              </a:rPr>
              <a:t>https://tinyurl.com/2xz4eeaf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2B6CB0"/>
                </a:solidFill>
                <a:latin typeface="Arial"/>
              </a:rPr>
              <a:t>Part 1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2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3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finding holds up — validated by an LLM judge and echoed in Blinkit's own numbers.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212080" cy="3291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0" y="2194560"/>
            <a:ext cx="5212080" cy="3291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4663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2B6CB0"/>
                </a:solidFill>
                <a:latin typeface="Arial"/>
              </a:rPr>
              <a:t>LLM-judge validation</a:t>
            </a:r>
          </a:p>
          <a:p>
            <a:pPr>
              <a:spcBef>
                <a:spcPts val="600"/>
              </a:spcBef>
            </a:pPr>
            <a:r>
              <a:rPr sz="2200" b="1" i="0">
                <a:solidFill>
                  <a:srgbClr val="1A1A1A"/>
                </a:solidFill>
                <a:latin typeface="Arial"/>
              </a:rPr>
              <a:t>16 / 20 confirmed · 0 contradicted</a:t>
            </a:r>
          </a:p>
          <a:p>
            <a:r>
              <a:rPr sz="1600" b="0" i="0">
                <a:solidFill>
                  <a:srgbClr val="4A5568"/>
                </a:solidFill>
                <a:latin typeface="Arial"/>
              </a:rPr>
              <a:t>Against a held-out, theme-relevant sample — not random reviews.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468880"/>
            <a:ext cx="4663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B7791F"/>
                </a:solidFill>
                <a:latin typeface="Arial"/>
              </a:rPr>
              <a:t>Company corroboration</a:t>
            </a:r>
          </a:p>
          <a:p>
            <a:pPr>
              <a:spcBef>
                <a:spcPts val="600"/>
              </a:spcBef>
            </a:pPr>
            <a:r>
              <a:rPr sz="2200" b="1" i="0">
                <a:solidFill>
                  <a:srgbClr val="1A1A1A"/>
                </a:solidFill>
                <a:latin typeface="Arial"/>
              </a:rPr>
              <a:t>Inventory losses ≈ 1.8% of NOV</a:t>
            </a:r>
          </a:p>
          <a:p>
            <a:r>
              <a:rPr sz="1600" b="0" i="0">
                <a:solidFill>
                  <a:srgbClr val="4A5568"/>
                </a:solidFill>
                <a:latin typeface="Arial"/>
              </a:rPr>
              <a:t>Eternal Q1FY27 letter — concentrated in perishables (expiry/damage), the same categories the reviews flagged.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2B6CB0"/>
                </a:solidFill>
                <a:latin typeface="Arial"/>
              </a:rPr>
              <a:t>Part 1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2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3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25 real users: the quality fear is real — but it's only half the story.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2103120"/>
            <a:ext cx="5212080" cy="3657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212080" cy="3657600"/>
          </a:xfrm>
          <a:prstGeom prst="rect">
            <a:avLst/>
          </a:prstGeom>
          <a:solidFill>
            <a:srgbClr val="FBF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4663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2B6CB0"/>
                </a:solidFill>
                <a:latin typeface="Arial"/>
              </a:rPr>
              <a:t>CONFIRMED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Quality incidents spread beyond the affected category:</a:t>
            </a:r>
          </a:p>
          <a:p>
            <a:pPr>
              <a:spcBef>
                <a:spcPts val="600"/>
              </a:spcBef>
            </a:pPr>
            <a:r>
              <a:rPr sz="1700" b="0" i="1">
                <a:solidFill>
                  <a:srgbClr val="1A1A1A"/>
                </a:solidFill>
                <a:latin typeface="Arial"/>
              </a:rPr>
              <a:t>“I only order the essential items now if anything urgent.”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286000"/>
            <a:ext cx="4663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B7791F"/>
                </a:solidFill>
                <a:latin typeface="Arial"/>
              </a:rPr>
              <a:t>CHALLENGED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One user churned to a competitor (Zepto) rather than just avoiding a category.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6 of 13 incident-havers changed nothing — a full refund often neutralizes the fear.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6 of 14 “stuck” users had no bad incident at all — low intent, not distrust.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4A5568"/>
                </a:solidFill>
                <a:latin typeface="Arial"/>
              </a:rPr>
              <a:t>Part 1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1" i="0">
                <a:solidFill>
                  <a:srgbClr val="2B6CB0"/>
                </a:solidFill>
                <a:latin typeface="Arial"/>
              </a:rPr>
              <a:t>Part 2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3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Loyal, high-frequency buyers default to what's proven safe — because one bad experience removes the benefit of the doubt.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Segment: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repeat buyers who stick to the same categories — </a:t>
            </a:r>
            <a:r>
              <a:rPr sz="1800" b="1" i="0">
                <a:solidFill>
                  <a:srgbClr val="2B6CB0"/>
                </a:solidFill>
                <a:latin typeface="Arial"/>
              </a:rPr>
              <a:t>56% of respondents</a:t>
            </a:r>
            <a:r>
              <a:rPr sz="1800" b="0" i="0">
                <a:solidFill>
                  <a:srgbClr val="1A1A1A"/>
                </a:solidFill>
                <a:latin typeface="Arial"/>
              </a:rPr>
              <a:t>; heavy, daily/near-daily, mainstream across city tiers.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Root cause: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an unresolved quality failure generalizes into category avoidance — for the </a:t>
            </a:r>
            <a:r>
              <a:rPr sz="1800" b="1" i="0">
                <a:solidFill>
                  <a:srgbClr val="B7791F"/>
                </a:solidFill>
                <a:latin typeface="Arial"/>
              </a:rPr>
              <a:t>~50% of the segment that is trust-driven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(not the low-intent half).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Today's workarounds: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retreat to “essentials only”; or switch platforms.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4A5568"/>
                </a:solidFill>
                <a:latin typeface="Arial"/>
              </a:rPr>
              <a:t>Part 1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2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1" i="0">
                <a:solidFill>
                  <a:srgbClr val="2B6CB0"/>
                </a:solidFill>
                <a:latin typeface="Arial"/>
              </a:rPr>
              <a:t>Part 3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Users already told us the fix — and it aligns with Blinkit's own P&amp;L.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8813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What users said would change their behavior (survey Q15, top two):</a:t>
            </a:r>
          </a:p>
          <a:p>
            <a:pPr lvl="1"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 “no-questions-asked” refund/return guarantee — </a:t>
            </a:r>
            <a:r>
              <a:rPr sz="1800" b="1" i="0">
                <a:solidFill>
                  <a:srgbClr val="2B6CB0"/>
                </a:solidFill>
                <a:latin typeface="Arial"/>
              </a:rPr>
              <a:t>11 / 25</a:t>
            </a:r>
          </a:p>
          <a:p>
            <a:pPr lvl="1"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 visible quality/freshness signal — </a:t>
            </a:r>
            <a:r>
              <a:rPr sz="1800" b="1" i="0">
                <a:solidFill>
                  <a:srgbClr val="2B6CB0"/>
                </a:solidFill>
                <a:latin typeface="Arial"/>
              </a:rPr>
              <a:t>9 / 25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Business fit: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assortment expansion is a stated Blinkit growth pillar (CEO, Q1FY27); cutting damage-driven distrust also supports the company's own 1.8%-of-NOV inventory-loss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4A5568"/>
                </a:solidFill>
                <a:latin typeface="Arial"/>
              </a:rPr>
              <a:t>Part 1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2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1" i="0">
                <a:solidFill>
                  <a:srgbClr val="2B6CB0"/>
                </a:solidFill>
                <a:latin typeface="Arial"/>
              </a:rPr>
              <a:t>Part 3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An AI agent that earns the first try — leading with a guarantee, not a generic “try something new.”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8813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Matches a user's behavior to the friction theme, then generates a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per-user, reasoned nudge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that leads with the </a:t>
            </a:r>
            <a:r>
              <a:rPr sz="1800" b="1" i="0">
                <a:solidFill>
                  <a:srgbClr val="2B6CB0"/>
                </a:solidFill>
                <a:latin typeface="Arial"/>
              </a:rPr>
              <a:t>refund guarantee + quality/freshness signal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(the two ranked drivers).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AI-native: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the reasoning is generated per user and theme — not a fixed template.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7791F"/>
                </a:solidFill>
                <a:latin typeface="Arial"/>
              </a:rPr>
              <a:t>Honest scope: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targets the trust-driven ~50%; the low-intent half needs a different lever.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4A5568"/>
                </a:solidFill>
                <a:latin typeface="Arial"/>
              </a:rPr>
              <a:t>[ Add a screenshot of a live generated nudge here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A1A1A"/>
                </a:solidFill>
                <a:latin typeface="Arial"/>
              </a:rPr>
              <a:t>▶ Try the live agent:  </a:t>
            </a:r>
            <a:r>
              <a:rPr sz="1500" b="0" i="0">
                <a:solidFill>
                  <a:srgbClr val="2B6CB0"/>
                </a:solidFill>
                <a:latin typeface="Arial"/>
                <a:hlinkClick r:id="rId2"/>
              </a:rPr>
              <a:t>https://tinyurl.com/2bbqo8vs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4A5568"/>
                </a:solidFill>
                <a:latin typeface="Arial"/>
              </a:rPr>
              <a:t>Part 1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2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3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1" i="0">
                <a:solidFill>
                  <a:srgbClr val="2B6CB0"/>
                </a:solidFill>
                <a:latin typeface="Arial"/>
              </a:rPr>
              <a:t>Part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One line runs through all four parts — and we're clear about what it doesn't solve.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2377440"/>
            <a:ext cx="1088136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2B6CB0"/>
                </a:solidFill>
                <a:latin typeface="Arial"/>
              </a:rPr>
              <a:t>Theme (770 / 70%)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700" b="0" i="0">
                <a:solidFill>
                  <a:srgbClr val="1A1A1A"/>
                </a:solidFill>
                <a:latin typeface="Arial"/>
              </a:rPr>
              <a:t>confirmed &amp; challenged by 25 users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700" b="0" i="0">
                <a:solidFill>
                  <a:srgbClr val="1A1A1A"/>
                </a:solidFill>
                <a:latin typeface="Arial"/>
              </a:rPr>
              <a:t>problem: trust-driven avoidance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700" b="1" i="0">
                <a:solidFill>
                  <a:srgbClr val="2B6CB0"/>
                </a:solidFill>
                <a:latin typeface="Arial"/>
              </a:rPr>
              <a:t>nudge: guarantee-led, per-user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B7791F"/>
                </a:solidFill>
                <a:latin typeface="Arial"/>
              </a:rPr>
              <a:t>The boundary: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this moves the trust-driven half. The low-intent half needs a different play (e.g. relevance-led discovery — a documented next step).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4A5568"/>
                </a:solidFill>
                <a:latin typeface="Arial"/>
              </a:rPr>
              <a:t>Part 1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2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3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1" i="0">
                <a:solidFill>
                  <a:srgbClr val="2B6CB0"/>
                </a:solidFill>
                <a:latin typeface="Arial"/>
              </a:rPr>
              <a:t>Part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testable engine and a live agent — the whole thread is reachable, not just described.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2103120"/>
            <a:ext cx="5212080" cy="1554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212080" cy="1554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4663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Arial"/>
              </a:rPr>
              <a:t>Discovery workflow (test the extraction)</a:t>
            </a:r>
          </a:p>
          <a:p>
            <a:r>
              <a:rPr sz="1400" b="0" i="0">
                <a:solidFill>
                  <a:srgbClr val="2B6CB0"/>
                </a:solidFill>
                <a:latin typeface="Arial"/>
                <a:hlinkClick r:id="rId2"/>
              </a:rPr>
              <a:t>https://tinyurl.com/2xz4eeaf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286000"/>
            <a:ext cx="4663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Arial"/>
              </a:rPr>
              <a:t>Category Nudge Agent (generate a nudge)</a:t>
            </a:r>
          </a:p>
          <a:p>
            <a:r>
              <a:rPr sz="1400" b="0" i="0">
                <a:solidFill>
                  <a:srgbClr val="2B6CB0"/>
                </a:solidFill>
                <a:latin typeface="Arial"/>
                <a:hlinkClick r:id="rId3"/>
              </a:rPr>
              <a:t>https://tinyurl.com/2bbqo8vs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108813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metric it moves: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new-category trial rate in the nudged cohort — measurable as an A/B lift.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Next steps: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pre-acceptance-inspection nudge; churn-save agent; move beyond synthetic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4A5568"/>
                </a:solidFill>
                <a:latin typeface="Arial"/>
              </a:rPr>
              <a:t>Part 1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2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0" i="0">
                <a:solidFill>
                  <a:srgbClr val="4A5568"/>
                </a:solidFill>
                <a:latin typeface="Arial"/>
              </a:rPr>
              <a:t>Part 3</a:t>
            </a:r>
            <a:r>
              <a:rPr sz="1400" b="0" i="0">
                <a:solidFill>
                  <a:srgbClr val="4A5568"/>
                </a:solidFill>
                <a:latin typeface="Arial"/>
              </a:rPr>
              <a:t>  →  </a:t>
            </a:r>
            <a:r>
              <a:rPr sz="1400" b="1" i="0">
                <a:solidFill>
                  <a:srgbClr val="2B6CB0"/>
                </a:solidFill>
                <a:latin typeface="Arial"/>
              </a:rPr>
              <a:t>Part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i="0">
                <a:solidFill>
                  <a:srgbClr val="4A5568"/>
                </a:solidFill>
                <a:latin typeface="Arial"/>
              </a:rPr>
              <a:t>Appendix · How the discovery engine works, end to end.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Ingest (Play Store · Google Maps · App Store · MouthShut · ConsumerComplaints)  →  TF-IDF prefilter  →  Two-Step Gated LLM extraction (Groq)  →  deterministic theme clustering  →  LLM-judge validation  →  earnings-call corroboration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B7791F"/>
                </a:solidFill>
                <a:latin typeface="Arial"/>
              </a:rPr>
              <a:t>Evidence counts are DB-backed row counts — never LLM-estimated.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