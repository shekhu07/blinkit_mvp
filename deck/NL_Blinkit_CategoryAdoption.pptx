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8287542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metric: share of monthly active customers buying from at least one new category that month. Four parts, both artefacts are live and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Segment: heavy repeat buyers with narrow baskets. 58% self-report sticking to the same categories. The blocker is trust, not awareness — they have seen the categories, they distrust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deliverable: the workflow explanation. Five stages. The design decision that matters is the relevance gate — an early ungated run only surfaced generic service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70% of gate-passing evidence is one theme: poor quality and unreliable products. The steep funnel is the gate working, not data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Mandatory slide: the research both confirmed and challenged the AI. Sample is 31 survey responses, zero live interviews — a deliberate trade of depth for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required framing elements: segment, root cause, workarounds, user value, business value — plus the scope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Options considered and why the trust-led nudge wins. Grounded in the ranked survey drivers: refund guarantee 13, quality/freshness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Annotated teardown of the deployed agent. All profiles are synthetic and labelled as such in the product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where correctness matters, LLM only for language. The product itself states when the fix does not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plan. No experiment has been run, so there are no results on this slide — say that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spaces/Abhishek292000/blinkit-discovery-engine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spaces/Abhishek292000/blinkit-category-nudge-agent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685800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644652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PRODUCT CASE STUDY · BLINKIT · QUICK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303019"/>
            <a:ext cx="16733519" cy="15773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800" b="1" i="0">
                <a:solidFill>
                  <a:srgbClr val="16130A"/>
                </a:solidFill>
                <a:latin typeface="Arial"/>
              </a:rPr>
              <a:t>Why do Blinkit's most loyal users never widen their basket?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2811779"/>
            <a:ext cx="167335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0" i="0">
                <a:solidFill>
                  <a:srgbClr val="3A3628"/>
                </a:solidFill>
                <a:latin typeface="Arial"/>
              </a:rPr>
              <a:t>Four parts: an AI discovery engine over public reviews, primary user research, a problem definition, and a deployed AI-native MVP — the Category Nudge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" y="4046220"/>
            <a:ext cx="8435340" cy="5692140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" y="4320540"/>
            <a:ext cx="76809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8CD1B"/>
                </a:solidFill>
                <a:latin typeface="Arial"/>
              </a:rPr>
              <a:t>THE CUSTOMER BASE WE ARE DESIGNING INTO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5006340"/>
            <a:ext cx="1810511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900" b="1" i="0">
                <a:solidFill>
                  <a:srgbClr val="F8CD1B"/>
                </a:solidFill>
                <a:latin typeface="Arial"/>
              </a:rPr>
              <a:t>31.8M</a:t>
            </a:r>
          </a:p>
          <a:p>
            <a:pPr>
              <a:spcBef>
                <a:spcPts val="3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avg. monthly transacting customers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16.9M a year earlier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3532" y="5006340"/>
            <a:ext cx="1810511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900" b="1" i="0">
                <a:solidFill>
                  <a:srgbClr val="FFFFFF"/>
                </a:solidFill>
                <a:latin typeface="Arial"/>
              </a:rPr>
              <a:t>331M</a:t>
            </a:r>
          </a:p>
          <a:p>
            <a:pPr>
              <a:spcBef>
                <a:spcPts val="3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orders in the quarter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≈ 10.4 orders per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1204" y="5006340"/>
            <a:ext cx="1810511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900" b="1" i="0">
                <a:solidFill>
                  <a:srgbClr val="FFFFFF"/>
                </a:solidFill>
                <a:latin typeface="Arial"/>
              </a:rPr>
              <a:t>2,443</a:t>
            </a:r>
          </a:p>
          <a:p>
            <a:pPr>
              <a:spcBef>
                <a:spcPts val="3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dark stores live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+200 in the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5" y="5006340"/>
            <a:ext cx="1810511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900" b="1" i="0">
                <a:solidFill>
                  <a:srgbClr val="FFFFFF"/>
                </a:solidFill>
                <a:latin typeface="Arial"/>
              </a:rPr>
              <a:t>86%</a:t>
            </a:r>
          </a:p>
          <a:p>
            <a:pPr>
              <a:spcBef>
                <a:spcPts val="3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YoY net order value growth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₹17,132 cr 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" y="7886700"/>
            <a:ext cx="7680959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C9C7BC"/>
                </a:solidFill>
                <a:latin typeface="Arial"/>
              </a:rPr>
              <a:t>Blinkit segment, Eternal Q1 FY27 (quarter ended 30 Jun 2026) shareholders' letter and earnings call. Growth came from more customers and more orders, not higher basket value — average order value dipped slightly.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4046220"/>
            <a:ext cx="8092440" cy="56921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6940" y="4279392"/>
            <a:ext cx="740664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DISCOVERY ON BLINKIT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6940" y="4800600"/>
            <a:ext cx="7406640" cy="2674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800" b="1" i="0">
                <a:solidFill>
                  <a:srgbClr val="146634"/>
                </a:solidFill>
                <a:latin typeface="Arial"/>
              </a:rPr>
              <a:t>1.  </a:t>
            </a:r>
            <a:r>
              <a:rPr sz="1800" b="1" i="0">
                <a:solidFill>
                  <a:srgbClr val="16130A"/>
                </a:solidFill>
                <a:latin typeface="Arial"/>
              </a:rPr>
              <a:t>Intent-led search and category aisles. </a:t>
            </a:r>
            <a:r>
              <a:rPr sz="1800" b="0" i="0">
                <a:solidFill>
                  <a:srgbClr val="3A3628"/>
                </a:solidFill>
                <a:latin typeface="Arial"/>
              </a:rPr>
              <a:t>AI-assisted search ranking is the primary way a basket gets filled — the customer has to ask first.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146634"/>
                </a:solidFill>
                <a:latin typeface="Arial"/>
              </a:rPr>
              <a:t>2.  </a:t>
            </a:r>
            <a:r>
              <a:rPr sz="1800" b="1" i="0">
                <a:solidFill>
                  <a:srgbClr val="16130A"/>
                </a:solidFill>
                <a:latin typeface="Arial"/>
              </a:rPr>
              <a:t>Home rails tuned to place and time. </a:t>
            </a:r>
            <a:r>
              <a:rPr sz="1800" b="0" i="0">
                <a:solidFill>
                  <a:srgbClr val="3A3628"/>
                </a:solidFill>
                <a:latin typeface="Arial"/>
              </a:rPr>
              <a:t>What is popular nearby, time-of-day sets, past purchases, and offer rails on things the customer already looked at.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146634"/>
                </a:solidFill>
                <a:latin typeface="Arial"/>
              </a:rPr>
              <a:t>3.  </a:t>
            </a:r>
            <a:r>
              <a:rPr sz="1800" b="1" i="0">
                <a:solidFill>
                  <a:srgbClr val="16130A"/>
                </a:solidFill>
                <a:latin typeface="Arial"/>
              </a:rPr>
              <a:t>Complement prompts at cart. </a:t>
            </a:r>
            <a:r>
              <a:rPr sz="1800" b="0" i="0">
                <a:solidFill>
                  <a:srgbClr val="3A3628"/>
                </a:solidFill>
                <a:latin typeface="Arial"/>
              </a:rPr>
              <a:t>Add-on suggestions next to what is already in the basket — adjacent to intent, rarely a new category.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6940" y="7612379"/>
            <a:ext cx="7406640" cy="1371600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0D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7708392"/>
            <a:ext cx="699515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25" b="1" i="0">
                <a:solidFill>
                  <a:srgbClr val="16130A"/>
                </a:solidFill>
                <a:latin typeface="Arial"/>
              </a:rPr>
              <a:t>The gap this study works in: </a:t>
            </a:r>
            <a:r>
              <a:rPr sz="1725" b="0" i="0">
                <a:solidFill>
                  <a:srgbClr val="3A3628"/>
                </a:solidFill>
                <a:latin typeface="Arial"/>
              </a:rPr>
              <a:t>every surface above ranks what to buy inside a category the customer already trusts. None of them argue why to try a category a bad order taught them to avoid.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6940" y="9025128"/>
            <a:ext cx="7406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5" b="0" i="0">
                <a:solidFill>
                  <a:srgbClr val="6B6857"/>
                </a:solidFill>
                <a:latin typeface="Arial"/>
              </a:rPr>
              <a:t>Discovery surfaces described from the public app and published reporting, not internal Blinkit documentation.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THE GOAL, FRAMED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591055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750" b="1" i="0">
                <a:solidFill>
                  <a:srgbClr val="16130A"/>
                </a:solidFill>
                <a:latin typeface="Arial"/>
              </a:rPr>
              <a:t>Heavy repeat buyers keep narrow baskets — and most of them say so themselves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" y="2948939"/>
            <a:ext cx="7680959" cy="6309359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" y="3291839"/>
            <a:ext cx="6858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0" b="1" i="0">
                <a:solidFill>
                  <a:srgbClr val="F8CD1B"/>
                </a:solidFill>
                <a:latin typeface="Arial"/>
              </a:rPr>
              <a:t>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" y="5143500"/>
            <a:ext cx="6858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50" b="1" i="0">
                <a:solidFill>
                  <a:srgbClr val="FFFFFF"/>
                </a:solidFill>
                <a:latin typeface="Arial"/>
              </a:rPr>
              <a:t>of surveyed users self-report that they mostly stick to the same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8092440"/>
            <a:ext cx="68580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50" b="0" i="0">
                <a:solidFill>
                  <a:srgbClr val="C9C7BC"/>
                </a:solidFill>
                <a:latin typeface="Arial"/>
              </a:rPr>
              <a:t>Source: primary survey, 18 of 31 responses. Survey-based; no live interviews.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9659" y="2948939"/>
            <a:ext cx="88468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59" y="3154679"/>
            <a:ext cx="8229600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 i="0">
                <a:solidFill>
                  <a:srgbClr val="16130A"/>
                </a:solidFill>
                <a:latin typeface="Arial"/>
              </a:rPr>
              <a:t>This is a trust problem, not an awareness problem</a:t>
            </a:r>
          </a:p>
          <a:p>
            <a:pPr>
              <a:spcBef>
                <a:spcPts val="600"/>
              </a:spcBef>
            </a:pPr>
            <a:r>
              <a:rPr sz="1875" b="0" i="0">
                <a:solidFill>
                  <a:srgbClr val="3A3628"/>
                </a:solidFill>
                <a:latin typeface="Arial"/>
              </a:rPr>
              <a:t>These customers order weekly or daily. They have already seen the other categories in the app. What stops them is what happened — or what they expect to happen — when the order arrives.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9659" y="6172200"/>
            <a:ext cx="8846820" cy="34975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6336792"/>
            <a:ext cx="8229600" cy="3223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 i="0">
                <a:solidFill>
                  <a:srgbClr val="16130A"/>
                </a:solidFill>
                <a:latin typeface="Arial"/>
              </a:rPr>
              <a:t>The company's own growth path runs through this behaviour</a:t>
            </a:r>
          </a:p>
          <a:p>
            <a:pPr>
              <a:spcBef>
                <a:spcPts val="500"/>
              </a:spcBef>
            </a:pPr>
            <a:r>
              <a:rPr sz="1650" b="0" i="0">
                <a:solidFill>
                  <a:srgbClr val="3A3628"/>
                </a:solidFill>
                <a:latin typeface="Arial"/>
              </a:rPr>
              <a:t>Analyst, Eternal Q4 FY26 earnings call (28 Apr 2026): “a large part of our growth narrative from here on depends in some sense on either growing the non-grocery assortment and going outside of the metro cities.”</a:t>
            </a:r>
          </a:p>
          <a:p>
            <a:pPr>
              <a:spcBef>
                <a:spcPts val="500"/>
              </a:spcBef>
            </a:pPr>
            <a:r>
              <a:rPr sz="1650" b="0" i="0">
                <a:solidFill>
                  <a:srgbClr val="3A3628"/>
                </a:solidFill>
                <a:latin typeface="Arial"/>
              </a:rPr>
              <a:t>CFO: “It's a function of assortment expansion, geographical expansion as well as more demand densification in the cities where we are present today.”</a:t>
            </a:r>
          </a:p>
          <a:p>
            <a:pPr>
              <a:spcBef>
                <a:spcPts val="500"/>
              </a:spcBef>
            </a:pPr>
            <a:r>
              <a:rPr sz="1575" b="1" i="0">
                <a:solidFill>
                  <a:srgbClr val="7A6100"/>
                </a:solidFill>
                <a:latin typeface="Arial"/>
              </a:rPr>
              <a:t>Caveat: </a:t>
            </a:r>
            <a:r>
              <a:rPr sz="1575" b="0" i="0">
                <a:solidFill>
                  <a:srgbClr val="3A3628"/>
                </a:solidFill>
                <a:latin typeface="Arial"/>
              </a:rPr>
              <a:t>the call does not discuss product-quality or refund friction. The link to this project's cause is ours, not the company's.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PART 1 · HOW THE ENGINE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28700"/>
            <a:ext cx="12755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50" b="1" i="0">
                <a:solidFill>
                  <a:srgbClr val="16130A"/>
                </a:solidFill>
                <a:latin typeface="Arial"/>
              </a:rPr>
              <a:t>A five-stage pipeline hard-gates on category-adoption relevance before it extracts anything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0" y="1097280"/>
            <a:ext cx="3840479" cy="1234440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8C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21740" y="1179576"/>
            <a:ext cx="3429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7A6100"/>
                </a:solidFill>
                <a:latin typeface="Arial"/>
              </a:rPr>
              <a:t>LIVE · DISCOVERY WORKFLOW</a:t>
            </a:r>
          </a:p>
          <a:p>
            <a:r>
              <a:rPr sz="1800" b="1" i="0">
                <a:solidFill>
                  <a:srgbClr val="16130A"/>
                </a:solidFill>
                <a:latin typeface="Arial"/>
                <a:hlinkClick r:id="rId3"/>
              </a:rPr>
              <a:t>Open the live extractor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" y="2674620"/>
            <a:ext cx="168021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784348"/>
            <a:ext cx="27432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6130A"/>
                </a:solidFill>
                <a:latin typeface="Arial"/>
              </a:rPr>
              <a:t>15,820</a:t>
            </a:r>
          </a:p>
          <a:p>
            <a:r>
              <a:rPr sz="1425" b="1" i="0">
                <a:solidFill>
                  <a:srgbClr val="5A5545"/>
                </a:solidFill>
                <a:latin typeface="Arial"/>
              </a:rPr>
              <a:t>public reviews ingested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79" y="30175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B9A45A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84348"/>
            <a:ext cx="27432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6130A"/>
                </a:solidFill>
                <a:latin typeface="Arial"/>
              </a:rPr>
              <a:t>4,740</a:t>
            </a:r>
          </a:p>
          <a:p>
            <a:r>
              <a:rPr sz="1425" b="1" i="0">
                <a:solidFill>
                  <a:srgbClr val="5A5545"/>
                </a:solidFill>
                <a:latin typeface="Arial"/>
              </a:rPr>
              <a:t>pass the rule-based prefilter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B9A45A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6579" y="2784348"/>
            <a:ext cx="27432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7A6100"/>
                </a:solidFill>
                <a:latin typeface="Arial"/>
              </a:rPr>
              <a:t>1,094</a:t>
            </a:r>
          </a:p>
          <a:p>
            <a:r>
              <a:rPr sz="1425" b="1" i="0">
                <a:solidFill>
                  <a:srgbClr val="5A5545"/>
                </a:solidFill>
                <a:latin typeface="Arial"/>
              </a:rPr>
              <a:t>gate-passing extractions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770632"/>
            <a:ext cx="7269479" cy="1028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25" b="1" i="0">
                <a:solidFill>
                  <a:srgbClr val="16130A"/>
                </a:solidFill>
                <a:latin typeface="Arial"/>
              </a:rPr>
              <a:t>Why gate at all? </a:t>
            </a:r>
            <a:r>
              <a:rPr sz="1650" b="0" i="0">
                <a:solidFill>
                  <a:srgbClr val="3A3628"/>
                </a:solidFill>
                <a:latin typeface="Arial"/>
              </a:rPr>
              <a:t>Hand-reading reviews is anecdote, not evidence — an ungated LLM pass returns a complaints dump. The gate forces every kept review through one schema.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" y="4046220"/>
            <a:ext cx="3099815" cy="28117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55948"/>
            <a:ext cx="2756915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1  </a:t>
            </a:r>
            <a:r>
              <a:rPr sz="1875" b="1" i="0">
                <a:solidFill>
                  <a:srgbClr val="16130A"/>
                </a:solidFill>
                <a:latin typeface="Arial"/>
              </a:rPr>
              <a:t>Ingest</a:t>
            </a:r>
          </a:p>
          <a:p>
            <a:pPr>
              <a:spcBef>
                <a:spcPts val="200"/>
              </a:spcBef>
            </a:pPr>
            <a:r>
              <a:rPr sz="1500" b="1" i="0">
                <a:solidFill>
                  <a:srgbClr val="7A6100"/>
                </a:solidFill>
                <a:latin typeface="Arial"/>
              </a:rPr>
              <a:t>15,820 reviews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Public app-store reviews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Deduplicated before any model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91356" y="4046220"/>
            <a:ext cx="3099815" cy="28117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4155948"/>
            <a:ext cx="2756915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2  </a:t>
            </a:r>
            <a:r>
              <a:rPr sz="1875" b="1" i="0">
                <a:solidFill>
                  <a:srgbClr val="16130A"/>
                </a:solidFill>
                <a:latin typeface="Arial"/>
              </a:rPr>
              <a:t>Heuristic prefilter</a:t>
            </a:r>
          </a:p>
          <a:p>
            <a:pPr>
              <a:spcBef>
                <a:spcPts val="200"/>
              </a:spcBef>
            </a:pPr>
            <a:r>
              <a:rPr sz="1500" b="1" i="0">
                <a:solidFill>
                  <a:srgbClr val="7A6100"/>
                </a:solidFill>
                <a:latin typeface="Arial"/>
              </a:rPr>
              <a:t>→ 4,740 kept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Drops empty text / under five words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Drops 5-star reviews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Rule-based only — no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8331" y="4046220"/>
            <a:ext cx="3099815" cy="2811779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1" y="4155948"/>
            <a:ext cx="2756915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8CD1B"/>
                </a:solidFill>
                <a:latin typeface="Arial"/>
              </a:rPr>
              <a:t>3  </a:t>
            </a:r>
            <a:r>
              <a:rPr sz="1875" b="1" i="0">
                <a:solidFill>
                  <a:srgbClr val="FFFFFF"/>
                </a:solidFill>
                <a:latin typeface="Arial"/>
              </a:rPr>
              <a:t>Gated extraction</a:t>
            </a:r>
          </a:p>
          <a:p>
            <a:pPr>
              <a:spcBef>
                <a:spcPts val="200"/>
              </a:spcBef>
            </a:pPr>
            <a:r>
              <a:rPr sz="1500" b="1" i="0">
                <a:solidFill>
                  <a:srgbClr val="F8CD1B"/>
                </a:solidFill>
                <a:latin typeface="Arial"/>
              </a:rPr>
              <a:t>→ 1,094 kept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DAD8CE"/>
                </a:solidFill>
                <a:latin typeface="Arial"/>
              </a:rPr>
              <a:t>✓ Gate: trying or avoiding a category?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DAD8CE"/>
                </a:solidFill>
                <a:latin typeface="Arial"/>
              </a:rPr>
              <a:t>✓ Extract: behaviour, category, friction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DAD8CE"/>
                </a:solidFill>
                <a:latin typeface="Arial"/>
              </a:rPr>
              <a:t>✓ Two steps, never 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5307" y="4046220"/>
            <a:ext cx="3099815" cy="28117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71047" y="4155948"/>
            <a:ext cx="2756915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4  </a:t>
            </a:r>
            <a:r>
              <a:rPr sz="1875" b="1" i="0">
                <a:solidFill>
                  <a:srgbClr val="16130A"/>
                </a:solidFill>
                <a:latin typeface="Arial"/>
              </a:rPr>
              <a:t>Deterministic clustering</a:t>
            </a:r>
          </a:p>
          <a:p>
            <a:pPr>
              <a:spcBef>
                <a:spcPts val="200"/>
              </a:spcBef>
            </a:pPr>
            <a:r>
              <a:rPr sz="1500" b="1" i="0">
                <a:solidFill>
                  <a:srgbClr val="7A6100"/>
                </a:solidFill>
                <a:latin typeface="Arial"/>
              </a:rPr>
              <a:t>Themes = DB rows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Frequency counted in the database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Never an LLM estimate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70% land in a single theme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02283" y="4046220"/>
            <a:ext cx="3099815" cy="28117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08023" y="4155948"/>
            <a:ext cx="2756915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5  </a:t>
            </a:r>
            <a:r>
              <a:rPr sz="1875" b="1" i="0">
                <a:solidFill>
                  <a:srgbClr val="16130A"/>
                </a:solidFill>
                <a:latin typeface="Arial"/>
              </a:rPr>
              <a:t>LLM-judge validation</a:t>
            </a:r>
          </a:p>
          <a:p>
            <a:pPr>
              <a:spcBef>
                <a:spcPts val="200"/>
              </a:spcBef>
            </a:pPr>
            <a:r>
              <a:rPr sz="1500" b="1" i="0">
                <a:solidFill>
                  <a:srgbClr val="7A6100"/>
                </a:solidFill>
                <a:latin typeface="Arial"/>
              </a:rPr>
              <a:t>Held-out sample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Gate decisions re-checked</a:t>
            </a:r>
          </a:p>
          <a:p>
            <a:pPr>
              <a:spcBef>
                <a:spcPts val="2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✓ Validation dial in the app itself</a:t>
            </a:r>
          </a:p>
        </p:txBody>
      </p:sp>
      <p:pic>
        <p:nvPicPr>
          <p:cNvPr id="25" name="Picture 24" descr="disc-01-extractor-pass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905" y="6926579"/>
            <a:ext cx="2996709" cy="22631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4380" y="9258300"/>
            <a:ext cx="493776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5" b="1" i="0">
                <a:solidFill>
                  <a:srgbClr val="146634"/>
                </a:solidFill>
                <a:latin typeface="Arial"/>
              </a:rPr>
              <a:t>✓ KEPT — CATEGORY BEHAVIOUR</a:t>
            </a:r>
          </a:p>
        </p:txBody>
      </p:sp>
      <p:pic>
        <p:nvPicPr>
          <p:cNvPr id="27" name="Picture 26" descr="disc-02-extractor-reject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405" y="6926579"/>
            <a:ext cx="2996709" cy="226313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97879" y="9258300"/>
            <a:ext cx="493776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5" b="1" i="0">
                <a:solidFill>
                  <a:srgbClr val="7A6100"/>
                </a:solidFill>
                <a:latin typeface="Arial"/>
              </a:rPr>
              <a:t>✗ DROPPED — SERVICE COMPLAINT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78540" y="6926579"/>
            <a:ext cx="6377940" cy="1303019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8C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995159"/>
            <a:ext cx="5966459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Design decision · the gate. </a:t>
            </a:r>
            <a:r>
              <a:rPr sz="1575" b="1" i="0">
                <a:solidFill>
                  <a:srgbClr val="16130A"/>
                </a:solidFill>
                <a:latin typeface="Arial"/>
              </a:rPr>
              <a:t>An early ungated run only surfaced generic service complaints.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78540" y="8366759"/>
            <a:ext cx="6377940" cy="1303019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 w="9525">
            <a:solidFill>
              <a:srgbClr val="CFE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84280" y="8435340"/>
            <a:ext cx="5966459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146634"/>
                </a:solidFill>
                <a:latin typeface="Arial"/>
              </a:rPr>
              <a:t>What the engine measures: </a:t>
            </a:r>
            <a:r>
              <a:rPr sz="1575" b="0" i="0">
                <a:solidFill>
                  <a:srgbClr val="3A3628"/>
                </a:solidFill>
                <a:latin typeface="Arial"/>
              </a:rPr>
              <a:t>adoption behaviour, category named, friction theme. Groq llama-3.1-8b-instant throughout.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PART 1 · WHAT THE REVIEWS SAID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673351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50" b="1" i="0">
                <a:solidFill>
                  <a:srgbClr val="16130A"/>
                </a:solidFill>
                <a:latin typeface="Arial"/>
              </a:rPr>
              <a:t>Poor quality and unreliable products is the dominant reason customers stop widening their baskets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" y="2537460"/>
            <a:ext cx="5486400" cy="2948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715768"/>
            <a:ext cx="4937760" cy="2674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1  </a:t>
            </a:r>
            <a:r>
              <a:rPr sz="1950" b="1" i="0">
                <a:solidFill>
                  <a:srgbClr val="16130A"/>
                </a:solidFill>
                <a:latin typeface="Arial"/>
              </a:rPr>
              <a:t>One theme carries the segment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Of the 1,094 gate-passing extractions, the dominant friction theme is “Poor Quality and Unreliable Products”.</a:t>
            </a:r>
          </a:p>
          <a:p>
            <a:pPr>
              <a:spcBef>
                <a:spcPts val="600"/>
              </a:spcBef>
            </a:pPr>
            <a:r>
              <a:rPr sz="3000" b="1" i="0">
                <a:solidFill>
                  <a:srgbClr val="318616"/>
                </a:solidFill>
                <a:latin typeface="Arial"/>
              </a:rPr>
              <a:t>70%  </a:t>
            </a:r>
            <a:r>
              <a:rPr sz="1425" b="1" i="0">
                <a:solidFill>
                  <a:srgbClr val="5A5545"/>
                </a:solidFill>
                <a:latin typeface="Arial"/>
              </a:rPr>
              <a:t>of kept evidence sits in this one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37460"/>
            <a:ext cx="5486400" cy="2948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715768"/>
            <a:ext cx="4937760" cy="2674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2  </a:t>
            </a:r>
            <a:r>
              <a:rPr sz="1950" b="1" i="0">
                <a:solidFill>
                  <a:srgbClr val="16130A"/>
                </a:solidFill>
                <a:latin typeface="Arial"/>
              </a:rPr>
              <a:t>The steep funnel is the gate working, not data loss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The prefilter drops empty/short/5-star reviews. The gate then removes everything unrelated to trying or avoiding a category.</a:t>
            </a:r>
          </a:p>
          <a:p>
            <a:pPr>
              <a:spcBef>
                <a:spcPts val="600"/>
              </a:spcBef>
            </a:pPr>
            <a:r>
              <a:rPr sz="3000" b="1" i="0">
                <a:solidFill>
                  <a:srgbClr val="318616"/>
                </a:solidFill>
                <a:latin typeface="Arial"/>
              </a:rPr>
              <a:t>15,820 → 4,740 → 1,094  </a:t>
            </a:r>
            <a:r>
              <a:rPr sz="1425" b="1" i="0">
                <a:solidFill>
                  <a:srgbClr val="5A5545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38659" y="2537460"/>
            <a:ext cx="54178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12980" y="2715768"/>
            <a:ext cx="4937760" cy="253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3  </a:t>
            </a:r>
            <a:r>
              <a:rPr sz="1950" b="1" i="0">
                <a:solidFill>
                  <a:srgbClr val="16130A"/>
                </a:solidFill>
                <a:latin typeface="Arial"/>
              </a:rPr>
              <a:t>Where the top theme lands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Groceries: </a:t>
            </a:r>
            <a:r>
              <a:rPr sz="1425" b="1" i="0">
                <a:solidFill>
                  <a:srgbClr val="16130A"/>
                </a:solidFill>
                <a:latin typeface="Arial"/>
              </a:rPr>
              <a:t>431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Electronics: </a:t>
            </a:r>
            <a:r>
              <a:rPr sz="1425" b="1" i="0">
                <a:solidFill>
                  <a:srgbClr val="16130A"/>
                </a:solidFill>
                <a:latin typeface="Arial"/>
              </a:rPr>
              <a:t>96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Snacks &amp; beverages: </a:t>
            </a:r>
            <a:r>
              <a:rPr sz="1425" b="1" i="0">
                <a:solidFill>
                  <a:srgbClr val="16130A"/>
                </a:solidFill>
                <a:latin typeface="Arial"/>
              </a:rPr>
              <a:t>79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Household essentials: </a:t>
            </a:r>
            <a:r>
              <a:rPr sz="1425" b="1" i="0">
                <a:solidFill>
                  <a:srgbClr val="16130A"/>
                </a:solidFill>
                <a:latin typeface="Arial"/>
              </a:rPr>
              <a:t>39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3A3628"/>
                </a:solidFill>
                <a:latin typeface="Arial"/>
              </a:rPr>
              <a:t>Personal care: </a:t>
            </a:r>
            <a:r>
              <a:rPr sz="1425" b="1" i="0">
                <a:solidFill>
                  <a:srgbClr val="16130A"/>
                </a:solidFill>
                <a:latin typeface="Arial"/>
              </a:rP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" y="5486400"/>
            <a:ext cx="5486400" cy="2125980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 w="9525">
            <a:solidFill>
              <a:srgbClr val="CFE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" y="5650992"/>
            <a:ext cx="4937760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46634"/>
                </a:solidFill>
                <a:latin typeface="Arial"/>
              </a:rPr>
              <a:t>4  </a:t>
            </a:r>
            <a:r>
              <a:rPr sz="1950" b="1" i="0">
                <a:solidFill>
                  <a:srgbClr val="16130A"/>
                </a:solidFill>
                <a:latin typeface="Arial"/>
              </a:rPr>
              <a:t>Every count is a database row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Frequencies come from the pipeline export — never an LLM estimate, never a per-user confidence score.</a:t>
            </a:r>
          </a:p>
        </p:txBody>
      </p:sp>
      <p:pic>
        <p:nvPicPr>
          <p:cNvPr id="14" name="Picture 13" descr="disc-04-results-explore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985" y="5554979"/>
            <a:ext cx="3565169" cy="3771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38659" y="9395459"/>
            <a:ext cx="54178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B6857"/>
                </a:solidFill>
                <a:latin typeface="Arial"/>
              </a:rPr>
              <a:t>Results Explorer — funnel, ranked themes, source mix, behaviour split and the LLM-judge validation dial.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" y="7886700"/>
            <a:ext cx="10835640" cy="1577339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8092440"/>
            <a:ext cx="10149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 i="0">
                <a:solidFill>
                  <a:srgbClr val="F8CD1B"/>
                </a:solidFill>
                <a:latin typeface="Arial"/>
              </a:rPr>
              <a:t>THE CORE PROBLEM   </a:t>
            </a:r>
            <a:r>
              <a:rPr sz="1875" b="1" i="0">
                <a:solidFill>
                  <a:srgbClr val="FFFFFF"/>
                </a:solidFill>
                <a:latin typeface="Arial"/>
              </a:rPr>
              <a:t>Customers are not missing the other categories — they have decided those categories are unsafe to buy here. One damaged, expired or fake item is read as evidence about the whole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PART 2 · PRIMARY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179575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300" b="1" i="0">
                <a:solidFill>
                  <a:srgbClr val="16130A"/>
                </a:solidFill>
                <a:latin typeface="Arial"/>
              </a:rPr>
              <a:t>The survey confirmed the AI's cause — and challenged how far it reaches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55880" y="754380"/>
            <a:ext cx="4800600" cy="1920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61619" y="850392"/>
            <a:ext cx="4389120" cy="1714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5" b="1" i="0">
                <a:solidFill>
                  <a:srgbClr val="7A6100"/>
                </a:solidFill>
                <a:latin typeface="Arial"/>
              </a:rPr>
              <a:t>SAMPLE, STATED HONESTLY</a:t>
            </a:r>
          </a:p>
          <a:p>
            <a:pPr>
              <a:spcBef>
                <a:spcPts val="300"/>
              </a:spcBef>
            </a:pPr>
            <a:r>
              <a:rPr sz="1425" b="1" i="0">
                <a:solidFill>
                  <a:srgbClr val="16130A"/>
                </a:solidFill>
                <a:latin typeface="Arial"/>
              </a:rPr>
              <a:t>31 survey responses. No live interviews — a deliberate trade of depth for breadth. Six respondents consented to follow-up calls that were not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" y="2811779"/>
            <a:ext cx="5417820" cy="6515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990088"/>
            <a:ext cx="4937760" cy="6172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%  </a:t>
            </a:r>
            <a:r>
              <a:rPr sz="2025" b="1" i="0">
                <a:solidFill>
                  <a:srgbClr val="16130A"/>
                </a:solidFill>
                <a:latin typeface="Arial"/>
              </a:rPr>
              <a:t>Quantitative validation</a:t>
            </a:r>
          </a:p>
          <a:p>
            <a:pPr>
              <a:spcBef>
                <a:spcPts val="1000"/>
              </a:spcBef>
            </a:pPr>
            <a:r>
              <a:rPr sz="2700" b="1" i="0">
                <a:solidFill>
                  <a:srgbClr val="318616"/>
                </a:solidFill>
                <a:latin typeface="Arial"/>
              </a:rPr>
              <a:t>58%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Stick to the same categories</a:t>
            </a:r>
          </a:p>
          <a:p>
            <a:pPr>
              <a:spcBef>
                <a:spcPts val="0"/>
              </a:spcBef>
            </a:pPr>
            <a:r>
              <a:rPr sz="1425" b="0" i="0">
                <a:solidFill>
                  <a:srgbClr val="5A5545"/>
                </a:solidFill>
                <a:latin typeface="Arial"/>
              </a:rPr>
              <a:t>18 of 31</a:t>
            </a:r>
          </a:p>
          <a:p>
            <a:pPr>
              <a:spcBef>
                <a:spcPts val="1000"/>
              </a:spcBef>
            </a:pPr>
            <a:r>
              <a:rPr sz="2700" b="1" i="0">
                <a:solidFill>
                  <a:srgbClr val="318616"/>
                </a:solidFill>
                <a:latin typeface="Arial"/>
              </a:rPr>
              <a:t>48%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Had a bad order in 3 months</a:t>
            </a:r>
          </a:p>
          <a:p>
            <a:pPr>
              <a:spcBef>
                <a:spcPts val="0"/>
              </a:spcBef>
            </a:pPr>
            <a:r>
              <a:rPr sz="1425" b="0" i="0">
                <a:solidFill>
                  <a:srgbClr val="5A5545"/>
                </a:solidFill>
                <a:latin typeface="Arial"/>
              </a:rPr>
              <a:t>15 of 31</a:t>
            </a:r>
          </a:p>
          <a:p>
            <a:pPr>
              <a:spcBef>
                <a:spcPts val="1000"/>
              </a:spcBef>
            </a:pPr>
            <a:r>
              <a:rPr sz="2700" b="1" i="0">
                <a:solidFill>
                  <a:srgbClr val="318616"/>
                </a:solidFill>
                <a:latin typeface="Arial"/>
              </a:rPr>
              <a:t>73%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Of those, fully refunded</a:t>
            </a:r>
          </a:p>
          <a:p>
            <a:pPr>
              <a:spcBef>
                <a:spcPts val="0"/>
              </a:spcBef>
            </a:pPr>
            <a:r>
              <a:rPr sz="1425" b="0" i="0">
                <a:solidFill>
                  <a:srgbClr val="5A5545"/>
                </a:solidFill>
                <a:latin typeface="Arial"/>
              </a:rPr>
              <a:t>11 of 15</a:t>
            </a:r>
          </a:p>
          <a:p>
            <a:pPr>
              <a:spcBef>
                <a:spcPts val="1200"/>
              </a:spcBef>
            </a:pPr>
            <a:r>
              <a:rPr sz="1575" b="1" i="0">
                <a:solidFill>
                  <a:srgbClr val="7A6100"/>
                </a:solidFill>
                <a:latin typeface="Arial"/>
              </a:rPr>
              <a:t>Asked directly, 1–5: mean 3.0</a:t>
            </a:r>
          </a:p>
          <a:p>
            <a:pPr>
              <a:spcBef>
                <a:spcPts val="300"/>
              </a:spcBef>
            </a:pPr>
            <a:r>
              <a:rPr sz="1575" b="1" i="0">
                <a:solidFill>
                  <a:srgbClr val="16130A"/>
                </a:solidFill>
                <a:latin typeface="Arial"/>
              </a:rPr>
              <a:t>■ 11 agree   ■ 9 neutral   ■ 11 disagree</a:t>
            </a:r>
          </a:p>
          <a:p>
            <a:pPr>
              <a:spcBef>
                <a:spcPts val="300"/>
              </a:spcBef>
            </a:pPr>
            <a:r>
              <a:rPr sz="1425" b="0" i="0">
                <a:solidFill>
                  <a:srgbClr val="5A5545"/>
                </a:solidFill>
                <a:latin typeface="Arial"/>
              </a:rPr>
              <a:t>Does a bad experience in one category make you hesitant to try others?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7940" y="2811779"/>
            <a:ext cx="5486400" cy="6515100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2259" y="2990088"/>
            <a:ext cx="5006340" cy="6172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8CD1B"/>
                </a:solidFill>
                <a:latin typeface="Arial"/>
              </a:rPr>
              <a:t>!  </a:t>
            </a:r>
            <a:r>
              <a:rPr sz="2025" b="1" i="0">
                <a:solidFill>
                  <a:srgbClr val="F8CD1B"/>
                </a:solidFill>
                <a:latin typeface="Arial"/>
              </a:rPr>
              <a:t>What the survey challenged</a:t>
            </a:r>
          </a:p>
          <a:p>
            <a:pPr>
              <a:spcBef>
                <a:spcPts val="7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The behaviour change is an even split, not a rule.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DAD8CE"/>
                </a:solidFill>
                <a:latin typeface="Arial"/>
              </a:rPr>
              <a:t>Of 15 bad orders: 7 changed behaviour, 7 didn't, 1 ambiguous — even split held as the sample grew.</a:t>
            </a:r>
          </a:p>
          <a:p>
            <a:pPr>
              <a:spcBef>
                <a:spcPts val="7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Half the “stuck” group had no incident at all.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DAD8CE"/>
                </a:solidFill>
                <a:latin typeface="Arial"/>
              </a:rPr>
              <a:t>8 of 18 “stuck” users had no bad order — low intent, not lost trust.</a:t>
            </a:r>
          </a:p>
          <a:p>
            <a:pPr>
              <a:spcBef>
                <a:spcPts val="7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Some churn instead of narrowing.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DAD8CE"/>
                </a:solidFill>
                <a:latin typeface="Arial"/>
              </a:rPr>
              <a:t>“I have started using Zepto more” — platform switching, not category avoidance.</a:t>
            </a:r>
          </a:p>
          <a:p>
            <a:pPr>
              <a:spcBef>
                <a:spcPts val="700"/>
              </a:spcBef>
            </a:pPr>
            <a:r>
              <a:rPr sz="1650" b="1" i="0">
                <a:solidFill>
                  <a:srgbClr val="FFFFFF"/>
                </a:solidFill>
                <a:latin typeface="Arial"/>
              </a:rPr>
              <a:t>Packaging is a distinct sub-cause.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DAD8CE"/>
                </a:solidFill>
                <a:latin typeface="Arial"/>
              </a:rPr>
              <a:t>A fulfilment failure, not product sourcing — written in unprompted.</a:t>
            </a:r>
          </a:p>
          <a:p>
            <a:pPr>
              <a:spcBef>
                <a:spcPts val="7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2 respondents raised pricing versus competitors unprompted.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1500" y="2811779"/>
            <a:ext cx="5554979" cy="6515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75819" y="2990088"/>
            <a:ext cx="5074920" cy="6172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46634"/>
                </a:solidFill>
                <a:latin typeface="Arial"/>
              </a:rPr>
              <a:t>✓  </a:t>
            </a:r>
            <a:r>
              <a:rPr sz="2025" b="1" i="0">
                <a:solidFill>
                  <a:srgbClr val="146634"/>
                </a:solidFill>
                <a:latin typeface="Arial"/>
              </a:rPr>
              <a:t>Confirmed, in their words</a:t>
            </a:r>
          </a:p>
          <a:p>
            <a:pPr>
              <a:spcBef>
                <a:spcPts val="800"/>
              </a:spcBef>
            </a:pPr>
            <a:r>
              <a:rPr sz="1575" b="0" i="1">
                <a:solidFill>
                  <a:srgbClr val="16130A"/>
                </a:solidFill>
                <a:latin typeface="Arial"/>
              </a:rPr>
              <a:t>“I have stopped exploring new categories on Blinkit. I only order the essential items now if anything urgent.”</a:t>
            </a:r>
          </a:p>
          <a:p>
            <a:pPr>
              <a:spcBef>
                <a:spcPts val="200"/>
              </a:spcBef>
            </a:pPr>
            <a:r>
              <a:rPr sz="1425" b="1" i="0">
                <a:solidFill>
                  <a:srgbClr val="146634"/>
                </a:solidFill>
                <a:latin typeface="Arial"/>
              </a:rPr>
              <a:t>Unresolved puja-item complaint</a:t>
            </a:r>
          </a:p>
          <a:p>
            <a:pPr>
              <a:spcBef>
                <a:spcPts val="800"/>
              </a:spcBef>
            </a:pPr>
            <a:r>
              <a:rPr sz="1575" b="0" i="1">
                <a:solidFill>
                  <a:srgbClr val="16130A"/>
                </a:solidFill>
                <a:latin typeface="Arial"/>
              </a:rPr>
              <a:t>“yes I am skeptical of buying electronic products from Blinkit and other similar applications”</a:t>
            </a:r>
          </a:p>
          <a:p>
            <a:pPr>
              <a:spcBef>
                <a:spcPts val="200"/>
              </a:spcBef>
            </a:pPr>
            <a:r>
              <a:rPr sz="1425" b="1" i="0">
                <a:solidFill>
                  <a:srgbClr val="146634"/>
                </a:solidFill>
                <a:latin typeface="Arial"/>
              </a:rPr>
              <a:t>Damaged electronics</a:t>
            </a:r>
          </a:p>
          <a:p>
            <a:pPr>
              <a:spcBef>
                <a:spcPts val="800"/>
              </a:spcBef>
            </a:pPr>
            <a:r>
              <a:rPr sz="1575" b="0" i="1">
                <a:solidFill>
                  <a:srgbClr val="16130A"/>
                </a:solidFill>
                <a:latin typeface="Arial"/>
              </a:rPr>
              <a:t>“I avoid buying any fresh products dairy or perishables items from quick commerce apps.”</a:t>
            </a:r>
          </a:p>
          <a:p>
            <a:pPr>
              <a:spcBef>
                <a:spcPts val="200"/>
              </a:spcBef>
            </a:pPr>
            <a:r>
              <a:rPr sz="1425" b="1" i="0">
                <a:solidFill>
                  <a:srgbClr val="146634"/>
                </a:solidFill>
                <a:latin typeface="Arial"/>
              </a:rPr>
              <a:t>Expired dairy — generalised beyond Blinkit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3A3628"/>
                </a:solidFill>
                <a:latin typeface="Arial"/>
              </a:rPr>
              <a:t>The 15 bad orders: 11 damaged · 2 expired · 1 fake/duplicate · 1 other. Resolution: 11 full refunds · 3 replacements · 1 unresolved.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" y="9464040"/>
            <a:ext cx="16802100" cy="754380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8C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" y="9505188"/>
            <a:ext cx="16322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THE VERDICT 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Confirmed: </a:t>
            </a:r>
            <a:r>
              <a:rPr sz="1650" b="0" i="0">
                <a:solidFill>
                  <a:srgbClr val="16130A"/>
                </a:solidFill>
                <a:latin typeface="Arial"/>
              </a:rPr>
              <a:t>a quality failure does generalise into avoiding the whole category.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Challenged: </a:t>
            </a:r>
            <a:r>
              <a:rPr sz="1650" b="0" i="0">
                <a:solidFill>
                  <a:srgbClr val="16130A"/>
                </a:solidFill>
                <a:latin typeface="Arial"/>
              </a:rPr>
              <a:t>it does not do so for everyone — so the fix is scoped to the trust-driven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PART 3 · PROBLEM FRAMING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591055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300" b="1" i="0">
                <a:solidFill>
                  <a:srgbClr val="16130A"/>
                </a:solidFill>
                <a:latin typeface="Arial"/>
              </a:rPr>
              <a:t>One quality failure generalises into permanent avoidance of an entire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" y="2400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606039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7A6100"/>
                </a:solidFill>
                <a:latin typeface="Arial"/>
              </a:rPr>
              <a:t>01 · WHO IT'S FOR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Heavy, habitual repeat buyers.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High-frequency customers who default to the same narrow set of categories every month. 18 of 31 surveyed describe themselves this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400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606039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7A6100"/>
                </a:solidFill>
                <a:latin typeface="Arial"/>
              </a:rPr>
              <a:t>02 · THE ROOT CAUSE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Trust, not discovery.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A damaged, expired or fake item teaches the customer that a category is unsafe to buy here — so they retreat to essentials, or leave for another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38660" y="2400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12980" y="2606039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7A6100"/>
                </a:solidFill>
                <a:latin typeface="Arial"/>
              </a:rPr>
              <a:t>03 · HOW THEY COPE TODAY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Two workarounds, both costly.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Retreat to essentials only, or switch platforms outright. The first suppresses category adoption silently; the second is active share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" y="5829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" y="6035040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46634"/>
                </a:solidFill>
                <a:latin typeface="Arial"/>
              </a:rPr>
              <a:t>04 · WHY IT'S WORTH IT FOR THE USER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They want to consolidate — they just can't risk it.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27 of 31 named at least one concrete change that would let them — only 4 said “nothing in particular” — led by a refund guarantee (13) and a visible quality signal (10).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829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6035040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46634"/>
                </a:solidFill>
                <a:latin typeface="Arial"/>
              </a:rPr>
              <a:t>05 · WHY IT'S WORTH IT FOR THE BUSINESS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Basket width is the growth lever the company has named.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3A3628"/>
                </a:solidFill>
                <a:latin typeface="Arial"/>
              </a:rPr>
              <a:t>Restoring trust re-opens non-grocery categories for customers who already order frequently — no new acquisition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38660" y="5829300"/>
            <a:ext cx="5486400" cy="3223260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12980" y="6035040"/>
            <a:ext cx="4937760" cy="2811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F8CD1B"/>
                </a:solidFill>
                <a:latin typeface="Arial"/>
              </a:rPr>
              <a:t>SCOPE LIMIT · STATED UP FRONT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FFFFFF"/>
                </a:solidFill>
                <a:latin typeface="Arial"/>
              </a:rPr>
              <a:t>This addresses only the quality- and trust-driven share of stagnation.</a:t>
            </a:r>
          </a:p>
          <a:p>
            <a:pPr>
              <a:spcBef>
                <a:spcPts val="400"/>
              </a:spcBef>
            </a:pPr>
            <a:r>
              <a:rPr sz="1575" b="0" i="0">
                <a:solidFill>
                  <a:srgbClr val="DAD8CE"/>
                </a:solidFill>
                <a:latin typeface="Arial"/>
              </a:rPr>
              <a:t>Roughly half the stuck segment reported no incident at all. Those customers are low intent; no trust fix will move them, and we do not claim it will.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" y="9121140"/>
            <a:ext cx="16802100" cy="822959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0D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" y="9162288"/>
            <a:ext cx="1632204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16130A"/>
                </a:solidFill>
                <a:latin typeface="Arial"/>
              </a:rPr>
              <a:t>Evidence base: </a:t>
            </a:r>
            <a:r>
              <a:rPr sz="1575" b="0" i="0">
                <a:solidFill>
                  <a:srgbClr val="3A3628"/>
                </a:solidFill>
                <a:latin typeface="Arial"/>
              </a:rPr>
              <a:t>1,094 gate-passing review extractions (70% quality-driven) and 31 survey responses (15 with a recent bad order) point at the same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PART 4 · SOLUTION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673351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300" b="1" i="0">
                <a:solidFill>
                  <a:srgbClr val="16130A"/>
                </a:solidFill>
                <a:latin typeface="Arial"/>
              </a:rPr>
              <a:t>A trust-led nudge wins because it answers the blocker customers actually named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" y="2537460"/>
            <a:ext cx="11795759" cy="62407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715768"/>
            <a:ext cx="11247119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OPTIONS CONSIDERED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28700" y="3291839"/>
          <a:ext cx="11247118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4031"/>
                <a:gridCol w="3178533"/>
                <a:gridCol w="2567277"/>
                <a:gridCol w="2567277"/>
              </a:tblGrid>
              <a:tr h="795527"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Pain it solves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Whole segment?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Differentiated?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Discount or intro offer on a new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Price hesitation only — 2 respondents raised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No — misses the trust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No — every rival can copy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Better merchandising and category 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Awareness — ranked 3rd at 7% of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No — these buyers already see the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Partly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Let users inspect before accepting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Pre-purchase doubt — now the 3rd-ranked driver, 7 of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Partly — helps at the door, not at the moment of choosing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16130A"/>
                          </a:solidFill>
                          <a:latin typeface="Arial"/>
                        </a:rPr>
                        <a:t>✗ No — an ops change any rival can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5531"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Trust-led category nudge  ← chosen</a:t>
                      </a:r>
                    </a:p>
                  </a:txBody>
                  <a:tcPr>
                    <a:solidFill>
                      <a:srgbClr val="FFF9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The top two named blockers: refund certainty 13/31, then quality 10/31</a:t>
                      </a:r>
                    </a:p>
                  </a:txBody>
                  <a:tcPr>
                    <a:solidFill>
                      <a:srgbClr val="FFF9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46634"/>
                          </a:solidFill>
                          <a:latin typeface="Arial"/>
                        </a:rPr>
                        <a:t>✓ Yes for the trust-driven share</a:t>
                      </a:r>
                    </a:p>
                  </a:txBody>
                  <a:tcPr>
                    <a:solidFill>
                      <a:srgbClr val="FFF9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46634"/>
                          </a:solidFill>
                          <a:latin typeface="Arial"/>
                        </a:rPr>
                        <a:t>✓ Yes — per-user, per-friction copy</a:t>
                      </a:r>
                    </a:p>
                  </a:txBody>
                  <a:tcPr>
                    <a:solidFill>
                      <a:srgbClr val="FFF9D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28700" y="7543800"/>
            <a:ext cx="11247119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B6857"/>
                </a:solidFill>
                <a:latin typeface="Arial"/>
              </a:rPr>
              <a:t>Ranked survey drivers, Q15 (pick up to 2), N=31: no-questions-asked refund or return guarantee 13 · visible quality/freshness guarantee 10 · inspect before accepting 7 · item reviews/ratings 5 · intro offers 5 · nothing in particular 4 · human support agent 3 · safer packaging 1 (write-in).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24459" y="2537460"/>
            <a:ext cx="4732020" cy="6240779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98780" y="2743200"/>
            <a:ext cx="4183379" cy="5897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50" b="1" i="0">
                <a:solidFill>
                  <a:srgbClr val="F8CD1B"/>
                </a:solidFill>
                <a:latin typeface="Arial"/>
              </a:rPr>
              <a:t>CHOSEN SOLUTION</a:t>
            </a:r>
          </a:p>
          <a:p>
            <a:pPr>
              <a:spcBef>
                <a:spcPts val="60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The Category Nudge Agent</a:t>
            </a:r>
          </a:p>
          <a:p>
            <a:pPr>
              <a:spcBef>
                <a:spcPts val="800"/>
              </a:spcBef>
            </a:pPr>
            <a:r>
              <a:rPr sz="1725" b="0" i="0">
                <a:solidFill>
                  <a:srgbClr val="DAD8CE"/>
                </a:solidFill>
                <a:latin typeface="Arial"/>
              </a:rPr>
              <a:t>A per-user nudge into an adjacent category that leads with the refund or return guarantee, then the quality and freshness signal — in that order, because that is the order customers ranked them.</a:t>
            </a:r>
          </a:p>
          <a:p>
            <a:pPr>
              <a:spcBef>
                <a:spcPts val="1400"/>
              </a:spcBef>
            </a:pPr>
            <a:r>
              <a:rPr sz="1800" b="1" i="0">
                <a:solidFill>
                  <a:srgbClr val="FFFFFF"/>
                </a:solidFill>
                <a:latin typeface="Arial"/>
              </a:rPr>
              <a:t>Why not a discount</a:t>
            </a:r>
          </a:p>
          <a:p>
            <a:pPr>
              <a:spcBef>
                <a:spcPts val="400"/>
              </a:spcBef>
            </a:pPr>
            <a:r>
              <a:rPr sz="1650" b="0" i="0">
                <a:solidFill>
                  <a:srgbClr val="DAD8CE"/>
                </a:solidFill>
                <a:latin typeface="Arial"/>
              </a:rPr>
              <a:t>A discount pays a customer to repeat the experience that broke their trust. It does not change the expected outcome of the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PART 4 · THE MVP,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28700"/>
            <a:ext cx="1179575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6130A"/>
                </a:solidFill>
                <a:latin typeface="Arial"/>
              </a:rPr>
              <a:t>The agent runs today: a shopper-facing nudge, its reasoning, and the push queue behind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2125980"/>
            <a:ext cx="4526279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6130A"/>
                </a:solidFill>
                <a:latin typeface="Arial"/>
                <a:hlinkClick r:id="rId3"/>
              </a:rPr>
              <a:t>Open the live agent →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24459" y="754380"/>
            <a:ext cx="4732020" cy="15773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30200" y="850392"/>
            <a:ext cx="43205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5" b="1" i="0">
                <a:solidFill>
                  <a:srgbClr val="7A6100"/>
                </a:solidFill>
                <a:latin typeface="Arial"/>
              </a:rPr>
              <a:t>DATA DISCLOSURE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16130A"/>
                </a:solidFill>
                <a:latin typeface="Arial"/>
              </a:rPr>
              <a:t>8 synthetic user profiles, labelled SYNTHETIC in the product UI itself. No real customer data was available.</a:t>
            </a:r>
          </a:p>
        </p:txBody>
      </p:sp>
      <p:pic>
        <p:nvPicPr>
          <p:cNvPr id="9" name="Picture 8" descr="mvp-02-phone-nu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87" y="2674620"/>
            <a:ext cx="2568844" cy="62407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" y="8983980"/>
            <a:ext cx="32232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B6857"/>
                </a:solidFill>
                <a:latin typeface="Arial"/>
              </a:rPr>
              <a:t>The shopper's view — a trust-led nudge into one adjacent category.</a:t>
            </a:r>
          </a:p>
        </p:txBody>
      </p:sp>
      <p:pic>
        <p:nvPicPr>
          <p:cNvPr id="11" name="Picture 10" descr="mvp-03-reasoning-ran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283" y="2674620"/>
            <a:ext cx="6032452" cy="62407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3379" y="8983980"/>
            <a:ext cx="665225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B6857"/>
                </a:solidFill>
                <a:latin typeface="Arial"/>
              </a:rPr>
              <a:t>The agent's reasoning panel — why this user, why this category, and what else was considered.</a:t>
            </a:r>
          </a:p>
        </p:txBody>
      </p:sp>
      <p:pic>
        <p:nvPicPr>
          <p:cNvPr id="13" name="Picture 12" descr="mvp-07-locksc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385" y="2674620"/>
            <a:ext cx="2248929" cy="62407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1380" y="8983980"/>
            <a:ext cx="2948939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6B6857"/>
                </a:solidFill>
                <a:latin typeface="Arial"/>
              </a:rPr>
              <a:t>Push payloads from the auto-nudge queue.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96059" y="2743200"/>
            <a:ext cx="377190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33219" y="2811779"/>
            <a:ext cx="3497579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25" b="1" i="0">
                <a:solidFill>
                  <a:srgbClr val="16130A"/>
                </a:solidFill>
                <a:latin typeface="Arial"/>
              </a:rPr>
              <a:t>Leads with the two research-ranked trust 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96059" y="4251960"/>
            <a:ext cx="377190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33219" y="4320540"/>
            <a:ext cx="3497579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25" b="1" i="0">
                <a:solidFill>
                  <a:srgbClr val="16130A"/>
                </a:solidFill>
                <a:latin typeface="Arial"/>
              </a:rPr>
              <a:t>No invented pricing — labelled illustrative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96059" y="5760720"/>
            <a:ext cx="377190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33219" y="5829300"/>
            <a:ext cx="3497579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25" b="1" i="0">
                <a:solidFill>
                  <a:srgbClr val="16130A"/>
                </a:solidFill>
                <a:latin typeface="Arial"/>
              </a:rPr>
              <a:t>Deterministic ranker, integer weights — not model 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96059" y="6926579"/>
            <a:ext cx="377190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33219" y="6995159"/>
            <a:ext cx="3497579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25" b="1" i="0">
                <a:solidFill>
                  <a:srgbClr val="16130A"/>
                </a:solidFill>
                <a:latin typeface="Arial"/>
              </a:rPr>
              <a:t>Copy generated live per user, not templated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96059" y="8092440"/>
            <a:ext cx="377190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333219" y="8161020"/>
            <a:ext cx="3497579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25" b="1" i="0">
                <a:solidFill>
                  <a:srgbClr val="16130A"/>
                </a:solidFill>
                <a:latin typeface="Arial"/>
              </a:rPr>
              <a:t>Five users, four different categories — no collapse to one suggestion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50" b="1" i="0">
                <a:solidFill>
                  <a:srgbClr val="7A6100"/>
                </a:solidFill>
                <a:latin typeface="Arial"/>
              </a:rPr>
              <a:t>PART 4 · ARCHITECTURE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69848"/>
            <a:ext cx="16733519" cy="1851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50" b="1" i="0">
                <a:solidFill>
                  <a:srgbClr val="16130A"/>
                </a:solidFill>
                <a:latin typeface="Arial"/>
              </a:rPr>
              <a:t>Deterministic logic decides what to nudge; the LLM only writes the words</a:t>
            </a:r>
          </a:p>
        </p:txBody>
      </p:sp>
      <p:pic>
        <p:nvPicPr>
          <p:cNvPr id="6" name="Picture 5" descr="mvp-04-out-of-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06" y="2537460"/>
            <a:ext cx="6122746" cy="59664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" y="8641080"/>
            <a:ext cx="6858000" cy="13030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8750808"/>
            <a:ext cx="6446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6130A"/>
                </a:solidFill>
                <a:latin typeface="Arial"/>
              </a:rPr>
              <a:t>The product itself says when the fix does NOT apply. </a:t>
            </a:r>
            <a:r>
              <a:rPr sz="1500" b="0" i="0">
                <a:solidFill>
                  <a:srgbClr val="3A3628"/>
                </a:solidFill>
                <a:latin typeface="Arial"/>
              </a:rPr>
              <a:t>Amber banner, top of the panel — a low-intent user is told the trust fix isn't theirs.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3859" y="2537460"/>
            <a:ext cx="94640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25" b="1" i="0">
                <a:solidFill>
                  <a:srgbClr val="7A6100"/>
                </a:solidFill>
                <a:latin typeface="Arial"/>
              </a:rPr>
              <a:t>RUNTIME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3859" y="3017520"/>
            <a:ext cx="94640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099816"/>
            <a:ext cx="90525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Input 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User profile — cadence, tenure, category history, prior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3859" y="3799332"/>
            <a:ext cx="9464040" cy="685800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881628"/>
            <a:ext cx="90525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146634"/>
                </a:solidFill>
                <a:latin typeface="Arial"/>
              </a:rPr>
              <a:t>Rule-based 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Friction match — profile to a Part 1 theme, no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3859" y="4581144"/>
            <a:ext cx="9464040" cy="685800"/>
          </a:xfrm>
          <a:prstGeom prst="roundRect">
            <a:avLst>
              <a:gd name="adj" fmla="val 6000"/>
            </a:avLst>
          </a:prstGeom>
          <a:solidFill>
            <a:srgbClr val="ED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663440"/>
            <a:ext cx="90525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146634"/>
                </a:solidFill>
                <a:latin typeface="Arial"/>
              </a:rPr>
              <a:t>Rule-based 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Adjacency ranker — integer weights produce the candidate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3859" y="5362955"/>
            <a:ext cx="9464040" cy="685800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445252"/>
            <a:ext cx="90525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F8CD1B"/>
                </a:solidFill>
                <a:latin typeface="Arial"/>
              </a:rPr>
              <a:t>LLM   </a:t>
            </a:r>
            <a:r>
              <a:rPr sz="1650" b="1" i="0">
                <a:solidFill>
                  <a:srgbClr val="FFFFFF"/>
                </a:solidFill>
                <a:latin typeface="Arial"/>
              </a:rPr>
              <a:t>Nudge generation — live Groq call writes copy and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3859" y="6144767"/>
            <a:ext cx="94640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6227063"/>
            <a:ext cx="90525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Output   </a:t>
            </a:r>
            <a:r>
              <a:rPr sz="1650" b="1" i="0">
                <a:solidFill>
                  <a:srgbClr val="16130A"/>
                </a:solidFill>
                <a:latin typeface="Arial"/>
              </a:rPr>
              <a:t>Rendered nudge — refund guarantee first, then quality and freshness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3859" y="6995159"/>
            <a:ext cx="9464040" cy="1920239"/>
          </a:xfrm>
          <a:prstGeom prst="roundRect">
            <a:avLst>
              <a:gd name="adj" fmla="val 6000"/>
            </a:avLst>
          </a:prstGeom>
          <a:solidFill>
            <a:srgbClr val="FFF9DF"/>
          </a:solidFill>
          <a:ln w="9525">
            <a:solidFill>
              <a:srgbClr val="F8C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7104888"/>
            <a:ext cx="9052559" cy="1714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Two integrity rules, enforced in the prompt</a:t>
            </a:r>
          </a:p>
          <a:p>
            <a:pPr>
              <a:spcBef>
                <a:spcPts val="300"/>
              </a:spcBef>
            </a:pPr>
            <a:r>
              <a:rPr sz="1425" b="1" i="0">
                <a:solidFill>
                  <a:srgbClr val="16130A"/>
                </a:solidFill>
                <a:latin typeface="Arial"/>
              </a:rPr>
              <a:t>Never invent statistics. </a:t>
            </a:r>
            <a:r>
              <a:rPr sz="1425" b="0" i="0">
                <a:solidFill>
                  <a:srgbClr val="3A3628"/>
                </a:solidFill>
                <a:latin typeface="Arial"/>
              </a:rPr>
              <a:t>No ratings, buyer counts or success rates may appear in nudge copy.</a:t>
            </a:r>
          </a:p>
          <a:p>
            <a:pPr>
              <a:spcBef>
                <a:spcPts val="200"/>
              </a:spcBef>
            </a:pPr>
            <a:r>
              <a:rPr sz="1425" b="1" i="0">
                <a:solidFill>
                  <a:srgbClr val="16130A"/>
                </a:solidFill>
                <a:latin typeface="Arial"/>
              </a:rPr>
              <a:t>Never overclaim to low-intent users. </a:t>
            </a:r>
            <a:r>
              <a:rPr sz="1425" b="0" i="0">
                <a:solidFill>
                  <a:srgbClr val="3A3628"/>
                </a:solidFill>
                <a:latin typeface="Arial"/>
              </a:rPr>
              <a:t>With no incident on file, the agent states the trust fix does not apply.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3859" y="9052559"/>
            <a:ext cx="9464040" cy="11658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9121140"/>
            <a:ext cx="9052559" cy="1028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7A6100"/>
                </a:solidFill>
                <a:latin typeface="Arial"/>
              </a:rPr>
              <a:t>Where it breaks:  </a:t>
            </a:r>
            <a:r>
              <a:rPr sz="1425" b="0" i="0">
                <a:solidFill>
                  <a:srgbClr val="3A3628"/>
                </a:solidFill>
                <a:latin typeface="Arial"/>
              </a:rPr>
              <a:t>synthetic profiles, not real history · refund promise inherits fulfilment risk · packaging failures need an ops fix, not a message · switched-platform users may never see the nudge.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ink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80059"/>
            <a:ext cx="1463751" cy="411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39" y="438911"/>
            <a:ext cx="1440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7A6100"/>
                </a:solidFill>
                <a:latin typeface="Arial"/>
              </a:rPr>
              <a:t>MEASUREMENT · PROPOSED, NOT YET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1028700"/>
            <a:ext cx="11521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50" b="1" i="0">
                <a:solidFill>
                  <a:srgbClr val="16130A"/>
                </a:solidFill>
                <a:latin typeface="Arial"/>
              </a:rPr>
              <a:t>We would judge this on new-category adoption, in three tiers, with trust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24459" y="822959"/>
            <a:ext cx="4732020" cy="1577339"/>
          </a:xfrm>
          <a:prstGeom prst="roundRect">
            <a:avLst>
              <a:gd name="adj" fmla="val 6000"/>
            </a:avLst>
          </a:prstGeom>
          <a:solidFill>
            <a:srgbClr val="F8C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30200" y="918972"/>
            <a:ext cx="43205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16130A"/>
                </a:solidFill>
                <a:latin typeface="Arial"/>
              </a:rPr>
              <a:t>Plan only. No experiment has been run and the MVP has never been shipped to real users, so no result numbers appear on this slide.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" y="2674620"/>
            <a:ext cx="6720840" cy="2606039"/>
          </a:xfrm>
          <a:prstGeom prst="roundRect">
            <a:avLst>
              <a:gd name="adj" fmla="val 6000"/>
            </a:avLst>
          </a:prstGeom>
          <a:solidFill>
            <a:srgbClr val="161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852928"/>
            <a:ext cx="6172200" cy="22631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F8CD1B"/>
                </a:solidFill>
                <a:latin typeface="Arial"/>
              </a:rPr>
              <a:t>PRIMARY METRIC</a:t>
            </a:r>
          </a:p>
          <a:p>
            <a:pPr>
              <a:spcBef>
                <a:spcPts val="400"/>
              </a:spcBef>
            </a:pPr>
            <a:r>
              <a:rPr sz="2175" b="1" i="0">
                <a:solidFill>
                  <a:srgbClr val="FFFFFF"/>
                </a:solidFill>
                <a:latin typeface="Arial"/>
              </a:rPr>
              <a:t>% of monthly active customers who purchase from at least one new category that month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C9C7BC"/>
                </a:solidFill>
                <a:latin typeface="Arial"/>
              </a:rPr>
              <a:t>Measured against the nudged segment's own prior month, not against a headline average.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5486400"/>
            <a:ext cx="6720840" cy="3291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5664708"/>
            <a:ext cx="6172200" cy="2948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75" b="1" i="0">
                <a:solidFill>
                  <a:srgbClr val="7A6100"/>
                </a:solidFill>
                <a:latin typeface="Arial"/>
              </a:rPr>
              <a:t>HONEST SCOPE LIMIT</a:t>
            </a:r>
          </a:p>
          <a:p>
            <a:pPr>
              <a:spcBef>
                <a:spcPts val="400"/>
              </a:spcBef>
            </a:pPr>
            <a:r>
              <a:rPr sz="2025" b="1" i="0">
                <a:solidFill>
                  <a:srgbClr val="16130A"/>
                </a:solidFill>
                <a:latin typeface="Arial"/>
              </a:rPr>
              <a:t>This moves the trust-driven share of stagnation only.</a:t>
            </a:r>
          </a:p>
          <a:p>
            <a:pPr>
              <a:spcBef>
                <a:spcPts val="500"/>
              </a:spcBef>
            </a:pPr>
            <a:r>
              <a:rPr sz="1650" b="0" i="0">
                <a:solidFill>
                  <a:srgbClr val="3A3628"/>
                </a:solidFill>
                <a:latin typeface="Arial"/>
              </a:rPr>
              <a:t>Around half the stuck segment reported no incident. Their stagnation is low intent, and a trust message is the wrong instrument for it. Any evaluation must report the two sub-segments separately or it will read as a failure of the wrong 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59" y="2674620"/>
            <a:ext cx="9875520" cy="31546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811779"/>
            <a:ext cx="9326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50" b="1" i="0">
                <a:solidFill>
                  <a:srgbClr val="7A6100"/>
                </a:solidFill>
                <a:latin typeface="Arial"/>
              </a:rPr>
              <a:t>MEASUREMENT LADDER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955279" y="3291839"/>
          <a:ext cx="9326878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069"/>
                <a:gridCol w="4362572"/>
                <a:gridCol w="2858237"/>
              </a:tblGrid>
              <a:tr h="600075"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What we would watch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1" i="0">
                          <a:solidFill>
                            <a:srgbClr val="FFFFFF"/>
                          </a:solidFill>
                          <a:latin typeface="Arial"/>
                        </a:rPr>
                        <a:t>Reads as</a:t>
                      </a:r>
                    </a:p>
                  </a:txBody>
                  <a:tcPr>
                    <a:solidFill>
                      <a:srgbClr val="16130A"/>
                    </a:solidFill>
                  </a:tcPr>
                </a:tc>
              </a:tr>
              <a:tr h="600075"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1 ·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New-category purchase rate among nudged trust-blocked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Did the behaviour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2 ·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Nudge shown → opened → category browsed → item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Which step leaks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3 · Durability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0" i="0">
                          <a:solidFill>
                            <a:srgbClr val="3A3628"/>
                          </a:solidFill>
                          <a:latin typeface="Arial"/>
                        </a:rPr>
                        <a:t>Repeat purchase in the newly tried category the following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25" b="1" i="0">
                          <a:solidFill>
                            <a:srgbClr val="16130A"/>
                          </a:solidFill>
                          <a:latin typeface="Arial"/>
                        </a:rPr>
                        <a:t>Trust restored, not just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680959" y="6035040"/>
            <a:ext cx="98755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6172200"/>
            <a:ext cx="9326880" cy="253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50" b="1" i="0">
                <a:solidFill>
                  <a:srgbClr val="7A6100"/>
                </a:solidFill>
                <a:latin typeface="Arial"/>
              </a:rPr>
              <a:t>GUARDRAILS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16130A"/>
                </a:solidFill>
                <a:latin typeface="Arial"/>
              </a:rPr>
              <a:t>Return and refund rate </a:t>
            </a:r>
            <a:r>
              <a:rPr sz="1500" b="0" i="0">
                <a:solidFill>
                  <a:srgbClr val="3A3628"/>
                </a:solidFill>
                <a:latin typeface="Arial"/>
              </a:rPr>
              <a:t>in nudged categories must not rise — a nudge into a genuinely bad category is a trust loss, not a win.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16130A"/>
                </a:solidFill>
                <a:latin typeface="Arial"/>
              </a:rPr>
              <a:t>Complaint rate </a:t>
            </a:r>
            <a:r>
              <a:rPr sz="1500" b="0" i="0">
                <a:solidFill>
                  <a:srgbClr val="3A3628"/>
                </a:solidFill>
                <a:latin typeface="Arial"/>
              </a:rPr>
              <a:t>among nudged users, tracked against their own baseline.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16130A"/>
                </a:solidFill>
                <a:latin typeface="Arial"/>
              </a:rPr>
              <a:t>Order frequency </a:t>
            </a:r>
            <a:r>
              <a:rPr sz="1500" b="0" i="0">
                <a:solidFill>
                  <a:srgbClr val="3A3628"/>
                </a:solidFill>
                <a:latin typeface="Arial"/>
              </a:rPr>
              <a:t>and nudge fatigue — reorder rate must not fall; opt-outs capped per user.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16130A"/>
                </a:solidFill>
                <a:latin typeface="Arial"/>
              </a:rPr>
              <a:t>Copy audit </a:t>
            </a:r>
            <a:r>
              <a:rPr sz="1500" b="0" i="0">
                <a:solidFill>
                  <a:srgbClr val="3A3628"/>
                </a:solidFill>
                <a:latin typeface="Arial"/>
              </a:rPr>
              <a:t>sampled nudges checked for invented statistics; any hit is a release blocker.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" y="8915400"/>
            <a:ext cx="68580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50" b="1" i="0">
                <a:solidFill>
                  <a:srgbClr val="7A6100"/>
                </a:solidFill>
                <a:latin typeface="Arial"/>
              </a:rPr>
              <a:t>WHAT WE'D BUILD 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" y="9395459"/>
            <a:ext cx="5486400" cy="822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" y="9422892"/>
            <a:ext cx="5212079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6130A"/>
                </a:solidFill>
                <a:latin typeface="Arial"/>
              </a:rPr>
              <a:t>1 · Let users inspect before accepting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9395459"/>
            <a:ext cx="5486400" cy="822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9422892"/>
            <a:ext cx="5212079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6130A"/>
                </a:solidFill>
                <a:latin typeface="Arial"/>
              </a:rPr>
              <a:t>2 · A relevance-led nudge for the low-intent half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38660" y="9395459"/>
            <a:ext cx="5486400" cy="822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75820" y="9422892"/>
            <a:ext cx="5212079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6130A"/>
                </a:solidFill>
                <a:latin typeface="Arial"/>
              </a:rPr>
              <a:t>3 · Real behavioural data instead of synthetic profiles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