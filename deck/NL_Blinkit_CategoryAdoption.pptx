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metric: share of monthly active customers buying from at least one new category that month. Four parts, both artefacts are live and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Segment: heavy repeat buyers with narrow baskets. 58% self-report sticking to the same categories. The blocker is trust, not awareness — they have seen the categories, they distrust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Required deliverable: the workflow explanation. Five stages. The design decision that matters is the relevance gate — an early ungated run only surfaced generic service complaints.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70% of gate-passing evidence is one theme: poor quality and unreliable products. The steep funnel is the gate working, not data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Mandatory slide: the research both confirmed and challenged the AI. Sample is 31 survey responses, zero live interviews — a deliberate trade of depth for breadth.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required framing elements: segment, root cause, workarounds, user value, business value — plus the scope limit.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considered and why the trust-led nudge wins. Grounded in the ranked survey drivers: refund guarantee 13, quality/freshness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Annotated teardown of the deployed agent. All profiles are synthetic and labelled as such in the product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Deterministic where correctness matters, LLM only for language. The product itself states when the fix does not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plan. No experiment has been run, so there are no results on this slide — say that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429768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PRODUCT CASE STUDY · BLINKIT · QUICK COMMERCE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111556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200" b="1" i="0">
                <a:solidFill>
                  <a:srgbClr val="16130A"/>
                </a:solidFill>
                <a:latin typeface="Arial"/>
              </a:rPr>
              <a:t>Why do Blinkit's most loyal users never widen their basket?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0" i="0">
                <a:solidFill>
                  <a:srgbClr val="3A3628"/>
                </a:solidFill>
                <a:latin typeface="Arial"/>
              </a:rPr>
              <a:t>Four parts: an AI discovery engine over public reviews, primary user research, a problem definition, and a deployed AI-native MVP — the Category Nudge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697480"/>
            <a:ext cx="5623560" cy="379476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8803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THE CUSTOMER BASE WE ARE DESIGNING INTO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37560"/>
            <a:ext cx="120700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F8CD1B"/>
                </a:solidFill>
                <a:latin typeface="Arial"/>
              </a:rPr>
              <a:t>31.8M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avg. monthly transacting customers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16.9M a year earlier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3337560"/>
            <a:ext cx="120700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331M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orders in the quarter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≈ 10.4 orders per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4136" y="3337560"/>
            <a:ext cx="120700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2,443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dark stores live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+200 in the quarter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2583" y="3337560"/>
            <a:ext cx="1207007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Arial"/>
              </a:rPr>
              <a:t>86%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YoY net order value growth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₹17,132 cr NOV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C9C7BC"/>
                </a:solidFill>
                <a:latin typeface="Arial"/>
              </a:rPr>
              <a:t>Blinkit segment, Eternal Q1 FY27 (quarter ended 30 Jun 2026) shareholders' letter and earnings call. Growth came from more customers and more orders, not higher basket value — average order value dipped slightly.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6974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2852928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DISCOVERY ON BLINKIT TODAY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200400"/>
            <a:ext cx="49377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46634"/>
                </a:solidFill>
                <a:latin typeface="Arial"/>
              </a:rPr>
              <a:t>1.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Intent-led search and category aisles.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AI-assisted search ranking is the primary way a basket gets filled — the customer has to ask first.</a:t>
            </a: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146634"/>
                </a:solidFill>
                <a:latin typeface="Arial"/>
              </a:rPr>
              <a:t>2.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Home rails tuned to place and time.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What is popular nearby, time-of-day sets, past purchases, and offer rails on things the customer already looked at.</a:t>
            </a:r>
          </a:p>
          <a:p>
            <a:pPr>
              <a:spcAft>
                <a:spcPts val="500"/>
              </a:spcAft>
            </a:pPr>
            <a:r>
              <a:rPr sz="1400" b="1" i="0">
                <a:solidFill>
                  <a:srgbClr val="146634"/>
                </a:solidFill>
                <a:latin typeface="Arial"/>
              </a:rPr>
              <a:t>3.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Complement prompts at cart.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Add-on suggestions next to what is already in the basket — adjacent to intent, rarely a new category.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5074920"/>
            <a:ext cx="4937760" cy="91440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0D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5138928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The gap this study works in: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every surface above ranks what to buy inside a category the customer already trusts. None of them argue why to try a category a bad order taught them to avoid.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6016752"/>
            <a:ext cx="493776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Discovery surfaces described from the public app and published reporting, not internal Blinkit documentation.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THE GOAL, FRAMED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06070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500" b="1" i="0">
                <a:solidFill>
                  <a:srgbClr val="16130A"/>
                </a:solidFill>
                <a:latin typeface="Arial"/>
              </a:rPr>
              <a:t>Heavy repeat buyers keep narrow baskets — and most of them say so themselves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6596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6000" b="1" i="0">
                <a:solidFill>
                  <a:srgbClr val="F8CD1B"/>
                </a:solidFill>
                <a:latin typeface="Arial"/>
              </a:rPr>
              <a:t>58%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42900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700" b="1" i="0">
                <a:solidFill>
                  <a:srgbClr val="FFFFFF"/>
                </a:solidFill>
                <a:latin typeface="Arial"/>
              </a:rPr>
              <a:t>of surveyed users self-report that they mostly stick to the same categories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C9C7BC"/>
                </a:solidFill>
                <a:latin typeface="Arial"/>
              </a:rPr>
              <a:t>Source: primary survey, 18 of 31 responses. Survey-based; no live interviews.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06440" y="1965960"/>
            <a:ext cx="5897880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2103120"/>
            <a:ext cx="5486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6130A"/>
                </a:solidFill>
                <a:latin typeface="Arial"/>
              </a:rPr>
              <a:t>This is a trust problem, not an awareness problem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These customers order weekly or daily. They have already seen the other categories in the app. What stops them is what happened — or what they expect to happen — when the order arrives.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4114800"/>
            <a:ext cx="58978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4224528"/>
            <a:ext cx="5486400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500" b="1" i="0">
                <a:solidFill>
                  <a:srgbClr val="16130A"/>
                </a:solidFill>
                <a:latin typeface="Arial"/>
              </a:rPr>
              <a:t>The company's own growth path runs through this behaviour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Analyst, Eternal Q4 FY26 earnings call (28 Apr 2026): “a large part of our growth narrative from here on depends in some sense on either growing the non-grocery assortment and going outside of the metro cities.”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CFO: “It's a function of assortment expansion, geographical expansion as well as more demand densification in the cities where we are present today.”</a:t>
            </a:r>
          </a:p>
          <a:p>
            <a:pPr>
              <a:spcBef>
                <a:spcPts val="5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Caveat: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the call does not discuss product-quality or refund friction. The link to this project's cause is ours, not the company's.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1 · HOW THE ENGINE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85039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 i="0">
                <a:solidFill>
                  <a:srgbClr val="16130A"/>
                </a:solidFill>
                <a:latin typeface="Arial"/>
              </a:rPr>
              <a:t>A five-stage pipeline hard-gates on category-adoption relevance before it extracts anything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0" y="731520"/>
            <a:ext cx="2560320" cy="82296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8CD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81160" y="786384"/>
            <a:ext cx="2286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LIVE · DISCOVERY WORKFLOW</a:t>
            </a:r>
          </a:p>
          <a:p>
            <a:r>
              <a:rPr sz="1400" b="1" i="0">
                <a:solidFill>
                  <a:srgbClr val="16130A"/>
                </a:solidFill>
                <a:latin typeface="Arial"/>
              </a:rPr>
              <a:t>Open the live extractor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1201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56231"/>
            <a:ext cx="1828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16130A"/>
                </a:solidFill>
                <a:latin typeface="Arial"/>
              </a:rPr>
              <a:t>15,820</a:t>
            </a:r>
          </a:p>
          <a:p>
            <a:r>
              <a:rPr sz="1400" b="1" i="0">
                <a:solidFill>
                  <a:srgbClr val="5A5545"/>
                </a:solidFill>
                <a:latin typeface="Arial"/>
              </a:rPr>
              <a:t>public reviews ingested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01168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B9A45A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1856231"/>
            <a:ext cx="1828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16130A"/>
                </a:solidFill>
                <a:latin typeface="Arial"/>
              </a:rPr>
              <a:t>4,740</a:t>
            </a:r>
          </a:p>
          <a:p>
            <a:r>
              <a:rPr sz="1400" b="1" i="0">
                <a:solidFill>
                  <a:srgbClr val="5A5545"/>
                </a:solidFill>
                <a:latin typeface="Arial"/>
              </a:rPr>
              <a:t>pass the rule-based prefilter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65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B9A45A"/>
                </a:solidFill>
                <a:latin typeface="Arial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856231"/>
            <a:ext cx="1828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7A6100"/>
                </a:solidFill>
                <a:latin typeface="Arial"/>
              </a:rPr>
              <a:t>1,094</a:t>
            </a:r>
          </a:p>
          <a:p>
            <a:r>
              <a:rPr sz="1400" b="1" i="0">
                <a:solidFill>
                  <a:srgbClr val="5A5545"/>
                </a:solidFill>
                <a:latin typeface="Arial"/>
              </a:rPr>
              <a:t>gate-passing extractions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1847088"/>
            <a:ext cx="48463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Why gate at all?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Hand-reading reviews is anecdote, not evidence — an ungated LLM pass returns a complaints dump. The gate forces every kept review through one schema.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697480"/>
            <a:ext cx="206654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770632"/>
            <a:ext cx="1837943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1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Ingest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15,820 reviews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Public app-store reviews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Deduplicated before any model runs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60904" y="2697480"/>
            <a:ext cx="206654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98064" y="2770632"/>
            <a:ext cx="1837943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2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Heuristic prefilter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→ 4,740 kept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Drops empty text / under five words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Drops 5-star reviews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Rule-based only — no 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18888" y="2697480"/>
            <a:ext cx="2066543" cy="1874519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6048" y="2770632"/>
            <a:ext cx="1837943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3  </a:t>
            </a:r>
            <a:r>
              <a:rPr sz="1400" b="1" i="0">
                <a:solidFill>
                  <a:srgbClr val="FFFFFF"/>
                </a:solidFill>
                <a:latin typeface="Arial"/>
              </a:rPr>
              <a:t>Gated extraction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F8CD1B"/>
                </a:solidFill>
                <a:latin typeface="Arial"/>
              </a:rPr>
              <a:t>→ 1,094 kept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✓ Gate: trying or avoiding a category?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✓ Extract: behaviour, category, friction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✓ Two steps, never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76871" y="2697480"/>
            <a:ext cx="206654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1" y="2770632"/>
            <a:ext cx="1837943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4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Deterministic clustering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Themes = DB rows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Frequency counted in the database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Never an LLM estimate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70% land in a single theme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34855" y="2697480"/>
            <a:ext cx="2066543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72015" y="2770632"/>
            <a:ext cx="1837943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5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LLM-judge validation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Held-out sample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Gate decisions re-checked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✓ Validation dial in the app itself</a:t>
            </a:r>
          </a:p>
        </p:txBody>
      </p:sp>
      <p:pic>
        <p:nvPicPr>
          <p:cNvPr id="25" name="Picture 24" descr="disc-01-extractor-pass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936" y="4617720"/>
            <a:ext cx="1997806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2920" y="61722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✓ KEPT — CATEGORY BEHAVIOUR</a:t>
            </a:r>
          </a:p>
        </p:txBody>
      </p:sp>
      <p:pic>
        <p:nvPicPr>
          <p:cNvPr id="27" name="Picture 26" descr="disc-02-extractor-reject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936" y="4617720"/>
            <a:ext cx="1997806" cy="1508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3931920" y="617220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✗ DROPPED — SERVICE COMPLAINT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4617720"/>
            <a:ext cx="4251960" cy="86868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8CD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466344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Design decision · the gate.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An early ungated run only surfaced generic service complaints.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5577840"/>
            <a:ext cx="4251960" cy="86868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 w="9525">
            <a:solidFill>
              <a:srgbClr val="CFE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5623560"/>
            <a:ext cx="397763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What the engine measures: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adoption behaviour, category named, friction theme. Groq llama-3.1-8b-instant throughout.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1 · WHAT THE REVIEWS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 i="0">
                <a:solidFill>
                  <a:srgbClr val="16130A"/>
                </a:solidFill>
                <a:latin typeface="Arial"/>
              </a:rPr>
              <a:t>Poor quality and unreliable products is the dominant reason customers stop widening their baskets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10512"/>
            <a:ext cx="32918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1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One theme carries the segment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Of the 1,094 gate-passing extractions, the dominant friction theme is “Poor Quality and Unreliable Products”.</a:t>
            </a:r>
          </a:p>
          <a:p>
            <a:pPr>
              <a:spcBef>
                <a:spcPts val="600"/>
              </a:spcBef>
            </a:pPr>
            <a:r>
              <a:rPr sz="2000" b="1" i="0">
                <a:solidFill>
                  <a:srgbClr val="318616"/>
                </a:solidFill>
                <a:latin typeface="Arial"/>
              </a:rPr>
              <a:t>70%  </a:t>
            </a:r>
            <a:r>
              <a:rPr sz="1400" b="1" i="0">
                <a:solidFill>
                  <a:srgbClr val="5A5545"/>
                </a:solidFill>
                <a:latin typeface="Arial"/>
              </a:rPr>
              <a:t>of kept evidence sits in this one theme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657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810512"/>
            <a:ext cx="329184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2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The steep funnel is the gate working, not data loss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The prefilter drops empty/short/5-star reviews. The gate then removes everything unrelated to trying or avoiding a category.</a:t>
            </a:r>
          </a:p>
          <a:p>
            <a:pPr>
              <a:spcBef>
                <a:spcPts val="600"/>
              </a:spcBef>
            </a:pPr>
            <a:r>
              <a:rPr sz="2000" b="1" i="0">
                <a:solidFill>
                  <a:srgbClr val="318616"/>
                </a:solidFill>
                <a:latin typeface="Arial"/>
              </a:rPr>
              <a:t>15,820 → 4,740 → 1,094  </a:t>
            </a:r>
            <a:r>
              <a:rPr sz="1400" b="1" i="0">
                <a:solidFill>
                  <a:srgbClr val="5A5545"/>
                </a:solidFill>
                <a:latin typeface="Arial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91640"/>
            <a:ext cx="36118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810512"/>
            <a:ext cx="32918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3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Where the top theme lands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Groceries: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431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Electronics: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96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Snacks &amp; beverages: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79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Household essentials: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39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Personal care: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576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 w="9525">
            <a:solidFill>
              <a:srgbClr val="CFE3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767328"/>
            <a:ext cx="32918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4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Every count is a database row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Frequencies come from the pipeline export — never an LLM estimate, never a per-user confidence score.</a:t>
            </a:r>
          </a:p>
        </p:txBody>
      </p:sp>
      <p:pic>
        <p:nvPicPr>
          <p:cNvPr id="14" name="Picture 13" descr="disc-04-results-explorer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990" y="3703320"/>
            <a:ext cx="2376779" cy="2514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092440" y="6263640"/>
            <a:ext cx="3611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Results Explorer — funnel, ranked themes, source mix, behaviour split and the LLM-judge validation dial.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57800"/>
            <a:ext cx="7223760" cy="105156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67665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THE CORE PROBLEM   </a:t>
            </a:r>
            <a:r>
              <a:rPr sz="1400" b="1" i="0">
                <a:solidFill>
                  <a:srgbClr val="FFFFFF"/>
                </a:solidFill>
                <a:latin typeface="Arial"/>
              </a:rPr>
              <a:t>Customers are not missing the other categories — they have decided those categories are unsafe to buy here. One damaged, expired or fake item is read as evidence about the whole category.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2 · PRIMARY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8638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6130A"/>
                </a:solidFill>
                <a:latin typeface="Arial"/>
              </a:rPr>
              <a:t>The survey confirmed the AI's cause — and challenged how far it reaches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0" y="502920"/>
            <a:ext cx="32004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1080" y="566928"/>
            <a:ext cx="29260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SAMPLE, STATED HONESTLY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31 survey responses. No live interviews — a deliberate trade of depth for breadth. Six respondents consented to follow-up calls that were not run.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361188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329184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%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Quantitative validation</a:t>
            </a:r>
          </a:p>
          <a:p>
            <a:pPr>
              <a:spcBef>
                <a:spcPts val="1000"/>
              </a:spcBef>
            </a:pPr>
            <a:r>
              <a:rPr sz="1800" b="1" i="0">
                <a:solidFill>
                  <a:srgbClr val="318616"/>
                </a:solidFill>
                <a:latin typeface="Arial"/>
              </a:rPr>
              <a:t>58%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Stick to the same categories</a:t>
            </a:r>
          </a:p>
          <a:p>
            <a:pPr>
              <a:spcBef>
                <a:spcPts val="0"/>
              </a:spcBef>
            </a:pPr>
            <a:r>
              <a:rPr sz="1400" b="0" i="0">
                <a:solidFill>
                  <a:srgbClr val="5A5545"/>
                </a:solidFill>
                <a:latin typeface="Arial"/>
              </a:rPr>
              <a:t>18 of 31</a:t>
            </a:r>
          </a:p>
          <a:p>
            <a:pPr>
              <a:spcBef>
                <a:spcPts val="1000"/>
              </a:spcBef>
            </a:pPr>
            <a:r>
              <a:rPr sz="1800" b="1" i="0">
                <a:solidFill>
                  <a:srgbClr val="318616"/>
                </a:solidFill>
                <a:latin typeface="Arial"/>
              </a:rPr>
              <a:t>48%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Had a bad order in 3 months</a:t>
            </a:r>
          </a:p>
          <a:p>
            <a:pPr>
              <a:spcBef>
                <a:spcPts val="0"/>
              </a:spcBef>
            </a:pPr>
            <a:r>
              <a:rPr sz="1400" b="0" i="0">
                <a:solidFill>
                  <a:srgbClr val="5A5545"/>
                </a:solidFill>
                <a:latin typeface="Arial"/>
              </a:rPr>
              <a:t>15 of 31</a:t>
            </a:r>
          </a:p>
          <a:p>
            <a:pPr>
              <a:spcBef>
                <a:spcPts val="1000"/>
              </a:spcBef>
            </a:pPr>
            <a:r>
              <a:rPr sz="1800" b="1" i="0">
                <a:solidFill>
                  <a:srgbClr val="318616"/>
                </a:solidFill>
                <a:latin typeface="Arial"/>
              </a:rPr>
              <a:t>73%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Of those, fully refunded</a:t>
            </a:r>
          </a:p>
          <a:p>
            <a:pPr>
              <a:spcBef>
                <a:spcPts val="0"/>
              </a:spcBef>
            </a:pPr>
            <a:r>
              <a:rPr sz="1400" b="0" i="0">
                <a:solidFill>
                  <a:srgbClr val="5A5545"/>
                </a:solidFill>
                <a:latin typeface="Arial"/>
              </a:rPr>
              <a:t>11 of 15</a:t>
            </a:r>
          </a:p>
          <a:p>
            <a:pPr>
              <a:spcBef>
                <a:spcPts val="1200"/>
              </a:spcBef>
            </a:pPr>
            <a:r>
              <a:rPr sz="1400" b="1" i="0">
                <a:solidFill>
                  <a:srgbClr val="7A6100"/>
                </a:solidFill>
                <a:latin typeface="Arial"/>
              </a:rPr>
              <a:t>Asked directly, 1–5: mean 3.0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■ 11 agree   ■ 9 neutral   ■ 11 disagree</a:t>
            </a:r>
          </a:p>
          <a:p>
            <a:pPr>
              <a:spcBef>
                <a:spcPts val="300"/>
              </a:spcBef>
            </a:pPr>
            <a:r>
              <a:rPr sz="1400" b="0" i="0">
                <a:solidFill>
                  <a:srgbClr val="5A5545"/>
                </a:solidFill>
                <a:latin typeface="Arial"/>
              </a:rPr>
              <a:t>Does a bad experience in one category make you hesitant to try others?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874519"/>
            <a:ext cx="3657600" cy="434340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993392"/>
            <a:ext cx="33375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!  </a:t>
            </a:r>
            <a:r>
              <a:rPr sz="1400" b="1" i="0">
                <a:solidFill>
                  <a:srgbClr val="F8CD1B"/>
                </a:solidFill>
                <a:latin typeface="Arial"/>
              </a:rPr>
              <a:t>What the survey challenged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The behaviour change is an even split, not a rule.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Of 15 bad orders: 7 changed behaviour, 7 didn't, 1 ambiguous — even split held as the sample grew.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Half the “stuck” group had no incident at all.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8 of 18 “stuck” users had no bad order — low intent, not lost trust.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Some churn instead of narrowing.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“I have started using Zepto more” — platform switching, not category avoidance.</a:t>
            </a:r>
          </a:p>
          <a:p>
            <a:pPr>
              <a:spcBef>
                <a:spcPts val="7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Packaging is a distinct sub-cause.</a:t>
            </a:r>
          </a:p>
          <a:p>
            <a:pPr>
              <a:spcBef>
                <a:spcPts val="2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A fulfilment failure, not product sourcing — written in unprompted.</a:t>
            </a:r>
          </a:p>
          <a:p>
            <a:pPr>
              <a:spcBef>
                <a:spcPts val="7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2 respondents raised pricing versus competitors unprompted.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1874519"/>
            <a:ext cx="3703320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1993392"/>
            <a:ext cx="3383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✓  </a:t>
            </a:r>
            <a:r>
              <a:rPr sz="1400" b="1" i="0">
                <a:solidFill>
                  <a:srgbClr val="146634"/>
                </a:solidFill>
                <a:latin typeface="Arial"/>
              </a:rPr>
              <a:t>Confirmed, in their words</a:t>
            </a:r>
          </a:p>
          <a:p>
            <a:pPr>
              <a:spcBef>
                <a:spcPts val="800"/>
              </a:spcBef>
            </a:pPr>
            <a:r>
              <a:rPr sz="1400" b="0" i="1">
                <a:solidFill>
                  <a:srgbClr val="16130A"/>
                </a:solidFill>
                <a:latin typeface="Arial"/>
              </a:rPr>
              <a:t>“I have stopped exploring new categories on Blinkit. I only order the essential items now if anything urgent.”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146634"/>
                </a:solidFill>
                <a:latin typeface="Arial"/>
              </a:rPr>
              <a:t>Unresolved puja-item complaint</a:t>
            </a:r>
          </a:p>
          <a:p>
            <a:pPr>
              <a:spcBef>
                <a:spcPts val="800"/>
              </a:spcBef>
            </a:pPr>
            <a:r>
              <a:rPr sz="1400" b="0" i="1">
                <a:solidFill>
                  <a:srgbClr val="16130A"/>
                </a:solidFill>
                <a:latin typeface="Arial"/>
              </a:rPr>
              <a:t>“yes I am skeptical of buying electronic products from Blinkit and other similar applications”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146634"/>
                </a:solidFill>
                <a:latin typeface="Arial"/>
              </a:rPr>
              <a:t>Damaged electronics</a:t>
            </a:r>
          </a:p>
          <a:p>
            <a:pPr>
              <a:spcBef>
                <a:spcPts val="800"/>
              </a:spcBef>
            </a:pPr>
            <a:r>
              <a:rPr sz="1400" b="0" i="1">
                <a:solidFill>
                  <a:srgbClr val="16130A"/>
                </a:solidFill>
                <a:latin typeface="Arial"/>
              </a:rPr>
              <a:t>“I avoid buying any fresh products dairy or perishables items from quick commerce apps.”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146634"/>
                </a:solidFill>
                <a:latin typeface="Arial"/>
              </a:rPr>
              <a:t>Expired dairy — generalised beyond Blinkit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The 15 bad orders: 11 damaged · 2 expired · 1 fake/duplicate · 1 other. Resolution: 11 full refunds · 3 replacements · 1 unresolved.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309360"/>
            <a:ext cx="11201400" cy="50292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8CD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36792"/>
            <a:ext cx="108813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THE VERDICT 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Confirmed: </a:t>
            </a:r>
            <a:r>
              <a:rPr sz="1400" b="0" i="0">
                <a:solidFill>
                  <a:srgbClr val="16130A"/>
                </a:solidFill>
                <a:latin typeface="Arial"/>
              </a:rPr>
              <a:t>a quality failure does generalise into avoiding the whole category.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Challenged: </a:t>
            </a:r>
            <a:r>
              <a:rPr sz="1400" b="0" i="0">
                <a:solidFill>
                  <a:srgbClr val="16130A"/>
                </a:solidFill>
                <a:latin typeface="Arial"/>
              </a:rPr>
              <a:t>it does not do so for everyone — so the fix is scoped to the trust-driven share.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3 · PROBLEM FRAMING CANVAS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060704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6130A"/>
                </a:solidFill>
                <a:latin typeface="Arial"/>
              </a:rPr>
              <a:t>One quality failure generalises into permanent avoidance of an entire category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01 · WHO IT'S FOR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Heavy, habitual repeat buyers.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High-frequency customers who default to the same narrow set of categories every month. 18 of 31 surveyed describe themselves this 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737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02 · THE ROOT CAUSE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Trust, not discovery.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A damaged, expired or fake item teaches the customer that a category is unsafe to buy here — so they retreat to essentials, or leave for another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00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737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03 · HOW THEY COPE TODAY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Two workarounds, both costly.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Retreat to essentials only, or switch platforms outright. The first suppresses category adoption silently; the second is active share loss.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23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04 · WHY IT'S WORTH IT FOR THE USER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They want to consolidate — they just can't risk it.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27 of 31 named at least one concrete change that would let them — only 4 said “nothing in particular” — led by a refund guarantee (13) and a visible quality signal (10).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3886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4023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05 · WHY IT'S WORTH IT FOR THE BUSINESS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Basket width is the growth lever the company has named.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Restoring trust re-opens non-grocery categories for customers who already order frequently — no new acquisition required.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38862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023360"/>
            <a:ext cx="3291840" cy="1874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SCOPE LIMIT · STATED UP FRONT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This addresses only the quality- and trust-driven share of stagnation.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Roughly half the stuck segment reported no incident at all. Those customers are low intent; no trust fix will move them, and we do not claim it will.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080760"/>
            <a:ext cx="11201400" cy="54864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0D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108192"/>
            <a:ext cx="10881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Evidence base: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1,094 gate-passing review extractions (70% quality-driven) and 31 survey responses (15 with a recent bad order) point at the same failure.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4 · SOLUTION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6130A"/>
                </a:solidFill>
                <a:latin typeface="Arial"/>
              </a:rPr>
              <a:t>A trust-led nudge wins because it answers the blocker customers actually named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78638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10512"/>
            <a:ext cx="749807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OPTIONS CONSIDERED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2194560"/>
          <a:ext cx="749807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6020"/>
                <a:gridCol w="2119022"/>
                <a:gridCol w="1711518"/>
                <a:gridCol w="1711518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Option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Pain it solves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Whole segment?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Differentiated?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Discount or intro offer on a new category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Price hesitation only — 2 respondents raised pricing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No — misses the trust blocker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No — every rival can copy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Better merchandising and category 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Awareness — ranked 3rd at 7% of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No — these buyers already see the categories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Partly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Let users inspect before accepting delivery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Pre-purchase doubt — now the 3rd-ranked driver, 7 of 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Partly — helps at the door, not at the moment of choosing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6130A"/>
                          </a:solidFill>
                          <a:latin typeface="Arial"/>
                        </a:rPr>
                        <a:t>✗ No — an ops change any rival can match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Trust-led category nudge  ← chosen</a:t>
                      </a:r>
                    </a:p>
                  </a:txBody>
                  <a:tcPr>
                    <a:solidFill>
                      <a:srgbClr val="FFF9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The top two named blockers: refund certainty 13/31, then quality 10/31</a:t>
                      </a:r>
                    </a:p>
                  </a:txBody>
                  <a:tcPr>
                    <a:solidFill>
                      <a:srgbClr val="FFF9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46634"/>
                          </a:solidFill>
                          <a:latin typeface="Arial"/>
                        </a:rPr>
                        <a:t>✓ Yes for the trust-driven share</a:t>
                      </a:r>
                    </a:p>
                  </a:txBody>
                  <a:tcPr>
                    <a:solidFill>
                      <a:srgbClr val="FFF9D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46634"/>
                          </a:solidFill>
                          <a:latin typeface="Arial"/>
                        </a:rPr>
                        <a:t>✓ Yes — per-user, per-friction copy</a:t>
                      </a:r>
                    </a:p>
                  </a:txBody>
                  <a:tcPr>
                    <a:solidFill>
                      <a:srgbClr val="FFF9D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5029200"/>
            <a:ext cx="7498079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Ranked survey drivers, Q15 (pick up to 2), N=31: no-questions-asked refund or return guarantee 13 · visible quality/freshness guarantee 10 · inspect before accepting 7 · item reviews/ratings 5 · intro offers 5 · nothing in particular 4 · human support agent 3 · safer packaging 1 (write-in).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1691640"/>
            <a:ext cx="3154680" cy="416052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1828800"/>
            <a:ext cx="27889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CHOSEN SOLUTION</a:t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FFFFFF"/>
                </a:solidFill>
                <a:latin typeface="Arial"/>
              </a:rPr>
              <a:t>The Category Nudge Agent</a:t>
            </a:r>
          </a:p>
          <a:p>
            <a:pPr>
              <a:spcBef>
                <a:spcPts val="8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A per-user nudge into an adjacent category that leads with the refund or return guarantee, then the quality and freshness signal — in that order, because that is the order customers ranked them.</a:t>
            </a:r>
          </a:p>
          <a:p>
            <a:pPr>
              <a:spcBef>
                <a:spcPts val="1400"/>
              </a:spcBef>
            </a:pPr>
            <a:r>
              <a:rPr sz="1400" b="1" i="0">
                <a:solidFill>
                  <a:srgbClr val="FFFFFF"/>
                </a:solidFill>
                <a:latin typeface="Arial"/>
              </a:rPr>
              <a:t>Why not a discount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DAD8CE"/>
                </a:solidFill>
                <a:latin typeface="Arial"/>
              </a:rPr>
              <a:t>A discount pays a customer to repeat the experience that broke their trust. It does not change the expected outcome of the order.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4 · THE MVP, DEPLOYED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7863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000" b="1" i="0">
                <a:solidFill>
                  <a:srgbClr val="16130A"/>
                </a:solidFill>
                <a:latin typeface="Arial"/>
              </a:rPr>
              <a:t>The agent runs today: a shopper-facing nudge, its reasoning, and the push queue behind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Open the live agent → 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502920"/>
            <a:ext cx="315468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566928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DATA DISCLOSURE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8 synthetic user profiles, labelled SYNTHETIC in the product UI itself. No real customer data was available.</a:t>
            </a:r>
          </a:p>
        </p:txBody>
      </p:sp>
      <p:pic>
        <p:nvPicPr>
          <p:cNvPr id="9" name="Picture 8" descr="mvp-02-phone-nu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058" y="1783080"/>
            <a:ext cx="1712562" cy="416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5989320"/>
            <a:ext cx="2148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The shopper's view — a trust-led nudge into one adjacent category.</a:t>
            </a:r>
          </a:p>
        </p:txBody>
      </p:sp>
      <p:pic>
        <p:nvPicPr>
          <p:cNvPr id="11" name="Picture 10" descr="mvp-03-reasoning-rank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5522" y="1783080"/>
            <a:ext cx="4021634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788920" y="5989320"/>
            <a:ext cx="44348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The agent's reasoning panel — why this user, why this category, and what else was considered.</a:t>
            </a:r>
          </a:p>
        </p:txBody>
      </p:sp>
      <p:pic>
        <p:nvPicPr>
          <p:cNvPr id="13" name="Picture 12" descr="mvp-07-lockscre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4256" y="1783080"/>
            <a:ext cx="1499286" cy="416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60920" y="5989320"/>
            <a:ext cx="1965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0" i="0">
                <a:solidFill>
                  <a:srgbClr val="6B6857"/>
                </a:solidFill>
                <a:latin typeface="Arial"/>
              </a:rPr>
              <a:t>Push payloads from the auto-nudge queue.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64040" y="1828800"/>
            <a:ext cx="2514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1874519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Leads with the two research-ranked trust drivers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64040" y="2834640"/>
            <a:ext cx="2514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288036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No invented pricing — labelled illustrative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64040" y="3840480"/>
            <a:ext cx="2514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55480" y="388620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Deterministic ranker, integer weights — not model confidence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64040" y="4617720"/>
            <a:ext cx="2514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55480" y="466344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Copy generated live per user, not templated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64040" y="5394960"/>
            <a:ext cx="251460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55480" y="5440680"/>
            <a:ext cx="2331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Five users, four different categories — no collapse to one suggestion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PART 4 · ARCHITECTURE AND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300" b="1" i="0">
                <a:solidFill>
                  <a:srgbClr val="16130A"/>
                </a:solidFill>
                <a:latin typeface="Arial"/>
              </a:rPr>
              <a:t>Deterministic logic decides what to nudge; the LLM only writes the words</a:t>
            </a:r>
          </a:p>
        </p:txBody>
      </p:sp>
      <p:pic>
        <p:nvPicPr>
          <p:cNvPr id="6" name="Picture 5" descr="mvp-04-out-of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004" y="1691640"/>
            <a:ext cx="4081830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760720"/>
            <a:ext cx="45720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833872"/>
            <a:ext cx="4297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The product itself says when the fix does NOT apply.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Amber banner, top of the panel — a low-intent user is told the trust fix isn't theirs.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691640"/>
            <a:ext cx="6309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RUNTIME FLOW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49240" y="2011680"/>
            <a:ext cx="63093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0" y="2066544"/>
            <a:ext cx="6035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Input 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User profile — cadence, tenure, category history, prior incident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2532888"/>
            <a:ext cx="6309360" cy="45720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2587752"/>
            <a:ext cx="6035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Rule-based 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Friction match — profile to a Part 1 theme, no LLM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49240" y="3054096"/>
            <a:ext cx="6309360" cy="457200"/>
          </a:xfrm>
          <a:prstGeom prst="roundRect">
            <a:avLst>
              <a:gd name="adj" fmla="val 6000"/>
            </a:avLst>
          </a:prstGeom>
          <a:solidFill>
            <a:srgbClr val="ED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108960"/>
            <a:ext cx="6035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46634"/>
                </a:solidFill>
                <a:latin typeface="Arial"/>
              </a:rPr>
              <a:t>Rule-based 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Adjacency ranker — integer weights produce the candidate list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49240" y="3575303"/>
            <a:ext cx="6309360" cy="45720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0" y="3630168"/>
            <a:ext cx="6035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LLM   </a:t>
            </a:r>
            <a:r>
              <a:rPr sz="1400" b="1" i="0">
                <a:solidFill>
                  <a:srgbClr val="FFFFFF"/>
                </a:solidFill>
                <a:latin typeface="Arial"/>
              </a:rPr>
              <a:t>Nudge generation — live Groq call writes copy and reasoning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49240" y="4096511"/>
            <a:ext cx="6309360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4151375"/>
            <a:ext cx="60350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Output   </a:t>
            </a:r>
            <a:r>
              <a:rPr sz="1400" b="1" i="0">
                <a:solidFill>
                  <a:srgbClr val="16130A"/>
                </a:solidFill>
                <a:latin typeface="Arial"/>
              </a:rPr>
              <a:t>Rendered nudge — refund guarantee first, then quality and freshness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49240" y="4663440"/>
            <a:ext cx="6309360" cy="1280160"/>
          </a:xfrm>
          <a:prstGeom prst="roundRect">
            <a:avLst>
              <a:gd name="adj" fmla="val 6000"/>
            </a:avLst>
          </a:prstGeom>
          <a:solidFill>
            <a:srgbClr val="FFF9DF"/>
          </a:solidFill>
          <a:ln w="9525">
            <a:solidFill>
              <a:srgbClr val="F8CD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0" y="4736592"/>
            <a:ext cx="60350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Two integrity rules, enforced in the prompt</a:t>
            </a:r>
          </a:p>
          <a:p>
            <a:pPr>
              <a:spcBef>
                <a:spcPts val="3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Never invent statistics.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No ratings, buyer counts or success rates may appear in nudge copy.</a:t>
            </a:r>
          </a:p>
          <a:p>
            <a:pPr>
              <a:spcBef>
                <a:spcPts val="2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Never overclaim to low-intent users.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With no incident on file, the agent states the trust fix does not apply.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6035040"/>
            <a:ext cx="63093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6080760"/>
            <a:ext cx="6035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Where it breaks: 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synthetic profiles, not real history · refund promise inherits fulfilment risk · packaging failures need an ops fix, not a message · switched-platform users may never see the nudge.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link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"/>
            <a:ext cx="975836" cy="274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80160" y="292607"/>
            <a:ext cx="96012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MEASUREMENT · PROPOSED, NOT YET 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85800"/>
            <a:ext cx="7680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100" b="1" i="0">
                <a:solidFill>
                  <a:srgbClr val="16130A"/>
                </a:solidFill>
                <a:latin typeface="Arial"/>
              </a:rPr>
              <a:t>We would judge this on new-category adoption, in three tiers, with trust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49640" y="548640"/>
            <a:ext cx="3154680" cy="1051560"/>
          </a:xfrm>
          <a:prstGeom prst="roundRect">
            <a:avLst>
              <a:gd name="adj" fmla="val 6000"/>
            </a:avLst>
          </a:prstGeom>
          <a:solidFill>
            <a:srgbClr val="F8CD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612648"/>
            <a:ext cx="2880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Plan only. No experiment has been run and the MVP has never been shipped to real users, so no result numbers appear on this slide.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4480560" cy="1737360"/>
          </a:xfrm>
          <a:prstGeom prst="roundRect">
            <a:avLst>
              <a:gd name="adj" fmla="val 6000"/>
            </a:avLst>
          </a:prstGeom>
          <a:solidFill>
            <a:srgbClr val="161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1148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F8CD1B"/>
                </a:solidFill>
                <a:latin typeface="Arial"/>
              </a:rPr>
              <a:t>PRIMARY METRIC</a:t>
            </a:r>
          </a:p>
          <a:p>
            <a:pPr>
              <a:spcBef>
                <a:spcPts val="400"/>
              </a:spcBef>
            </a:pPr>
            <a:r>
              <a:rPr sz="1450" b="1" i="0">
                <a:solidFill>
                  <a:srgbClr val="FFFFFF"/>
                </a:solidFill>
                <a:latin typeface="Arial"/>
              </a:rPr>
              <a:t>% of monthly active customers who purchase from at least one new category that month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C9C7BC"/>
                </a:solidFill>
                <a:latin typeface="Arial"/>
              </a:rPr>
              <a:t>Measured against the nudged segment's own prior month, not against a headline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44805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76472"/>
            <a:ext cx="4114800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HONEST SCOPE LIMIT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This moves the trust-driven share of stagnation only.</a:t>
            </a:r>
          </a:p>
          <a:p>
            <a:pPr>
              <a:spcBef>
                <a:spcPts val="500"/>
              </a:spcBef>
            </a:pPr>
            <a:r>
              <a:rPr sz="1400" b="0" i="0">
                <a:solidFill>
                  <a:srgbClr val="3A3628"/>
                </a:solidFill>
                <a:latin typeface="Arial"/>
              </a:rPr>
              <a:t>Around half the stuck segment reported no incident. Their stagnation is low intent, and a trust message is the wrong instrument for it. Any evaluation must report the two sub-segments separately or it will read as a failure of the wrong thing.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783080"/>
            <a:ext cx="6583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0" y="1874519"/>
            <a:ext cx="6217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MEASUREMENT LADDER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303520" y="2194560"/>
          <a:ext cx="6217918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046"/>
                <a:gridCol w="2908381"/>
                <a:gridCol w="1905491"/>
              </a:tblGrid>
              <a:tr h="40005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Tier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What we would watch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Reads as</a:t>
                      </a:r>
                    </a:p>
                  </a:txBody>
                  <a:tcPr>
                    <a:solidFill>
                      <a:srgbClr val="16130A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1 · Outcome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New-category purchase rate among nudged trust-blocked users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Did the behaviour 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2 · Mechanism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Nudge shown → opened → category browsed → item added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Which step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3 · Durability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3A3628"/>
                          </a:solidFill>
                          <a:latin typeface="Arial"/>
                        </a:rPr>
                        <a:t>Repeat purchase in the newly tried category the following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6130A"/>
                          </a:solidFill>
                          <a:latin typeface="Arial"/>
                        </a:rPr>
                        <a:t>Trust restored, not just tested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120640" y="4023360"/>
            <a:ext cx="65836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4114800"/>
            <a:ext cx="6217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GUARDRAILS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Return and refund rate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in nudged categories must not rise — a nudge into a genuinely bad category is a trust loss, not a win.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Complaint rate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among nudged users, tracked against their own baseline.</a:t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Order frequency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and nudge fatigue — reorder rate must not fall; opt-outs capped per user.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16130A"/>
                </a:solidFill>
                <a:latin typeface="Arial"/>
              </a:rPr>
              <a:t>Copy audit </a:t>
            </a:r>
            <a:r>
              <a:rPr sz="1400" b="0" i="0">
                <a:solidFill>
                  <a:srgbClr val="3A3628"/>
                </a:solidFill>
                <a:latin typeface="Arial"/>
              </a:rPr>
              <a:t>sampled nudges checked for invented statistics; any hit is a release blocker.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9436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7A6100"/>
                </a:solidFill>
                <a:latin typeface="Arial"/>
              </a:rPr>
              <a:t>WHAT WE'D BUILD NEXT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6263640"/>
            <a:ext cx="36576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281928"/>
            <a:ext cx="34747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1 · Let users inspect before accepting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6263640"/>
            <a:ext cx="36576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6281928"/>
            <a:ext cx="34747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2 · A relevance-led nudge for the low-intent half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6263640"/>
            <a:ext cx="365760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7E8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6281928"/>
            <a:ext cx="347472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 i="0">
                <a:solidFill>
                  <a:srgbClr val="16130A"/>
                </a:solidFill>
                <a:latin typeface="Arial"/>
              </a:rPr>
              <a:t>3 · Real behavioural data instead of synthetic profiles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